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376" r:id="rId3"/>
    <p:sldId id="358" r:id="rId4"/>
    <p:sldId id="359" r:id="rId5"/>
    <p:sldId id="360" r:id="rId6"/>
    <p:sldId id="377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87" r:id="rId23"/>
    <p:sldId id="388" r:id="rId24"/>
    <p:sldId id="378" r:id="rId25"/>
    <p:sldId id="383" r:id="rId26"/>
    <p:sldId id="389" r:id="rId27"/>
    <p:sldId id="390" r:id="rId28"/>
    <p:sldId id="356" r:id="rId29"/>
    <p:sldId id="379" r:id="rId30"/>
    <p:sldId id="380" r:id="rId31"/>
    <p:sldId id="381" r:id="rId32"/>
    <p:sldId id="3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08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C1C69-A0CF-442E-BB10-2D22215100E4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A31A-CAC2-4ADE-B33D-7876F702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3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5ADD9-E452-4D8E-A90D-A33AC777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3BB01B7F-BAAD-42F6-AECF-E202232E46AA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C8FAF-3013-4C56-8A1F-9C0FE72F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978524-4277-4AF4-B8F5-0A15D011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5BAD3C-5298-454E-96F7-55DADDB7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57B8472-DEF1-4026-98E5-01AE240F077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44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183B-8DA6-4E48-8358-01FB4451CE4D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Топологическая сортировка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C3AF26D2-CDBE-4147-8705-D6A2C388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5"/>
            <a:ext cx="7456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Топологическая сортировка вершин ориентированного графа без циклов.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9EE0C5D0-EA33-4C6A-A1B1-125D59BDB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1" y="758825"/>
            <a:ext cx="66280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/>
              <a:t>DAG – Directed Acyclic Graph – </a:t>
            </a:r>
            <a:r>
              <a:rPr lang="ru-RU" altLang="ru-RU"/>
              <a:t>ориентированный граф без циклов</a:t>
            </a:r>
          </a:p>
        </p:txBody>
      </p:sp>
      <p:grpSp>
        <p:nvGrpSpPr>
          <p:cNvPr id="41038" name="Group 78">
            <a:extLst>
              <a:ext uri="{FF2B5EF4-FFF2-40B4-BE49-F238E27FC236}">
                <a16:creationId xmlns:a16="http://schemas.microsoft.com/office/drawing/2014/main" id="{EB5172E7-A369-4066-9E75-3F97A0882AB9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1376364"/>
            <a:ext cx="5507037" cy="2268537"/>
            <a:chOff x="975" y="867"/>
            <a:chExt cx="3469" cy="1429"/>
          </a:xfrm>
        </p:grpSpPr>
        <p:sp>
          <p:nvSpPr>
            <p:cNvPr id="40964" name="Oval 4">
              <a:extLst>
                <a:ext uri="{FF2B5EF4-FFF2-40B4-BE49-F238E27FC236}">
                  <a16:creationId xmlns:a16="http://schemas.microsoft.com/office/drawing/2014/main" id="{27A12A44-73D4-44A8-98DB-CA26FF7C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86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1</a:t>
              </a:r>
            </a:p>
          </p:txBody>
        </p:sp>
        <p:sp>
          <p:nvSpPr>
            <p:cNvPr id="40965" name="Oval 5">
              <a:extLst>
                <a:ext uri="{FF2B5EF4-FFF2-40B4-BE49-F238E27FC236}">
                  <a16:creationId xmlns:a16="http://schemas.microsoft.com/office/drawing/2014/main" id="{F2C484FF-4991-4E63-A44B-DE15E7E74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434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5</a:t>
              </a:r>
            </a:p>
          </p:txBody>
        </p:sp>
        <p:sp>
          <p:nvSpPr>
            <p:cNvPr id="40966" name="Oval 6">
              <a:extLst>
                <a:ext uri="{FF2B5EF4-FFF2-40B4-BE49-F238E27FC236}">
                  <a16:creationId xmlns:a16="http://schemas.microsoft.com/office/drawing/2014/main" id="{50CDA377-2068-4DE2-98AF-F81C4DDC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204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9</a:t>
              </a:r>
            </a:p>
          </p:txBody>
        </p:sp>
        <p:sp>
          <p:nvSpPr>
            <p:cNvPr id="40967" name="Oval 7">
              <a:extLst>
                <a:ext uri="{FF2B5EF4-FFF2-40B4-BE49-F238E27FC236}">
                  <a16:creationId xmlns:a16="http://schemas.microsoft.com/office/drawing/2014/main" id="{7B3BCD30-1859-4C09-9343-DDAA791B5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11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2</a:t>
              </a:r>
            </a:p>
          </p:txBody>
        </p:sp>
        <p:sp>
          <p:nvSpPr>
            <p:cNvPr id="40968" name="Oval 8">
              <a:extLst>
                <a:ext uri="{FF2B5EF4-FFF2-40B4-BE49-F238E27FC236}">
                  <a16:creationId xmlns:a16="http://schemas.microsoft.com/office/drawing/2014/main" id="{C44B7939-758B-48A1-A9C9-3BA5E3214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730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7</a:t>
              </a:r>
            </a:p>
          </p:txBody>
        </p:sp>
        <p:sp>
          <p:nvSpPr>
            <p:cNvPr id="40969" name="Oval 9">
              <a:extLst>
                <a:ext uri="{FF2B5EF4-FFF2-40B4-BE49-F238E27FC236}">
                  <a16:creationId xmlns:a16="http://schemas.microsoft.com/office/drawing/2014/main" id="{E2463CEB-5D93-4F2D-B32A-60E9B5848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11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3</a:t>
              </a:r>
            </a:p>
          </p:txBody>
        </p:sp>
        <p:sp>
          <p:nvSpPr>
            <p:cNvPr id="40970" name="Oval 10">
              <a:extLst>
                <a:ext uri="{FF2B5EF4-FFF2-40B4-BE49-F238E27FC236}">
                  <a16:creationId xmlns:a16="http://schemas.microsoft.com/office/drawing/2014/main" id="{783973D2-FF8A-4A19-9A30-77426B02F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30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8</a:t>
              </a:r>
            </a:p>
          </p:txBody>
        </p:sp>
        <p:sp>
          <p:nvSpPr>
            <p:cNvPr id="40971" name="Oval 11">
              <a:extLst>
                <a:ext uri="{FF2B5EF4-FFF2-40B4-BE49-F238E27FC236}">
                  <a16:creationId xmlns:a16="http://schemas.microsoft.com/office/drawing/2014/main" id="{29F7DB43-4466-4419-9A84-D287C7D0F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434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4</a:t>
              </a:r>
            </a:p>
          </p:txBody>
        </p:sp>
        <p:sp>
          <p:nvSpPr>
            <p:cNvPr id="40972" name="Oval 12">
              <a:extLst>
                <a:ext uri="{FF2B5EF4-FFF2-40B4-BE49-F238E27FC236}">
                  <a16:creationId xmlns:a16="http://schemas.microsoft.com/office/drawing/2014/main" id="{9AADB275-CCAA-4DED-81DA-3417273DD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389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6</a:t>
              </a:r>
            </a:p>
          </p:txBody>
        </p:sp>
        <p:cxnSp>
          <p:nvCxnSpPr>
            <p:cNvPr id="40973" name="AutoShape 13">
              <a:extLst>
                <a:ext uri="{FF2B5EF4-FFF2-40B4-BE49-F238E27FC236}">
                  <a16:creationId xmlns:a16="http://schemas.microsoft.com/office/drawing/2014/main" id="{8352851D-464F-42A4-B067-E852505E8994}"/>
                </a:ext>
              </a:extLst>
            </p:cNvPr>
            <p:cNvCxnSpPr>
              <a:cxnSpLocks noChangeShapeType="1"/>
              <a:stCxn id="40971" idx="7"/>
              <a:endCxn id="40967" idx="2"/>
            </p:cNvCxnSpPr>
            <p:nvPr/>
          </p:nvCxnSpPr>
          <p:spPr bwMode="auto">
            <a:xfrm flipV="1">
              <a:off x="1188" y="1242"/>
              <a:ext cx="603" cy="22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4" name="AutoShape 14">
              <a:extLst>
                <a:ext uri="{FF2B5EF4-FFF2-40B4-BE49-F238E27FC236}">
                  <a16:creationId xmlns:a16="http://schemas.microsoft.com/office/drawing/2014/main" id="{86E56DDB-48E9-444A-AC14-0BA60C1FFEC9}"/>
                </a:ext>
              </a:extLst>
            </p:cNvPr>
            <p:cNvCxnSpPr>
              <a:cxnSpLocks noChangeShapeType="1"/>
              <a:stCxn id="40971" idx="5"/>
              <a:endCxn id="40968" idx="2"/>
            </p:cNvCxnSpPr>
            <p:nvPr/>
          </p:nvCxnSpPr>
          <p:spPr bwMode="auto">
            <a:xfrm>
              <a:off x="1188" y="1647"/>
              <a:ext cx="603" cy="20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5" name="AutoShape 15">
              <a:extLst>
                <a:ext uri="{FF2B5EF4-FFF2-40B4-BE49-F238E27FC236}">
                  <a16:creationId xmlns:a16="http://schemas.microsoft.com/office/drawing/2014/main" id="{118F933C-5441-4012-8D8F-509D05C46036}"/>
                </a:ext>
              </a:extLst>
            </p:cNvPr>
            <p:cNvCxnSpPr>
              <a:cxnSpLocks noChangeShapeType="1"/>
              <a:stCxn id="40967" idx="4"/>
              <a:endCxn id="40968" idx="0"/>
            </p:cNvCxnSpPr>
            <p:nvPr/>
          </p:nvCxnSpPr>
          <p:spPr bwMode="auto">
            <a:xfrm>
              <a:off x="1916" y="1366"/>
              <a:ext cx="0" cy="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6" name="AutoShape 16">
              <a:extLst>
                <a:ext uri="{FF2B5EF4-FFF2-40B4-BE49-F238E27FC236}">
                  <a16:creationId xmlns:a16="http://schemas.microsoft.com/office/drawing/2014/main" id="{CA181160-088A-42A2-949D-7674555A0B8D}"/>
                </a:ext>
              </a:extLst>
            </p:cNvPr>
            <p:cNvCxnSpPr>
              <a:cxnSpLocks noChangeShapeType="1"/>
              <a:stCxn id="40967" idx="7"/>
              <a:endCxn id="40964" idx="2"/>
            </p:cNvCxnSpPr>
            <p:nvPr/>
          </p:nvCxnSpPr>
          <p:spPr bwMode="auto">
            <a:xfrm flipV="1">
              <a:off x="2004" y="992"/>
              <a:ext cx="627" cy="16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7" name="AutoShape 17">
              <a:extLst>
                <a:ext uri="{FF2B5EF4-FFF2-40B4-BE49-F238E27FC236}">
                  <a16:creationId xmlns:a16="http://schemas.microsoft.com/office/drawing/2014/main" id="{22D8C459-DE5E-438F-A61A-920ABED1660E}"/>
                </a:ext>
              </a:extLst>
            </p:cNvPr>
            <p:cNvCxnSpPr>
              <a:cxnSpLocks noChangeShapeType="1"/>
              <a:stCxn id="40967" idx="6"/>
              <a:endCxn id="40965" idx="1"/>
            </p:cNvCxnSpPr>
            <p:nvPr/>
          </p:nvCxnSpPr>
          <p:spPr bwMode="auto">
            <a:xfrm>
              <a:off x="2040" y="1242"/>
              <a:ext cx="627" cy="22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8" name="AutoShape 18">
              <a:extLst>
                <a:ext uri="{FF2B5EF4-FFF2-40B4-BE49-F238E27FC236}">
                  <a16:creationId xmlns:a16="http://schemas.microsoft.com/office/drawing/2014/main" id="{27C4A302-9010-40CB-B4FE-DC17C447E249}"/>
                </a:ext>
              </a:extLst>
            </p:cNvPr>
            <p:cNvCxnSpPr>
              <a:cxnSpLocks noChangeShapeType="1"/>
              <a:stCxn id="40968" idx="6"/>
              <a:endCxn id="40965" idx="3"/>
            </p:cNvCxnSpPr>
            <p:nvPr/>
          </p:nvCxnSpPr>
          <p:spPr bwMode="auto">
            <a:xfrm flipV="1">
              <a:off x="2040" y="1647"/>
              <a:ext cx="627" cy="20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9" name="AutoShape 19">
              <a:extLst>
                <a:ext uri="{FF2B5EF4-FFF2-40B4-BE49-F238E27FC236}">
                  <a16:creationId xmlns:a16="http://schemas.microsoft.com/office/drawing/2014/main" id="{293D9B28-689D-42FE-8207-32FB78B16356}"/>
                </a:ext>
              </a:extLst>
            </p:cNvPr>
            <p:cNvCxnSpPr>
              <a:cxnSpLocks noChangeShapeType="1"/>
              <a:stCxn id="40968" idx="5"/>
              <a:endCxn id="40966" idx="2"/>
            </p:cNvCxnSpPr>
            <p:nvPr/>
          </p:nvCxnSpPr>
          <p:spPr bwMode="auto">
            <a:xfrm>
              <a:off x="2004" y="1943"/>
              <a:ext cx="627" cy="2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0" name="AutoShape 20">
              <a:extLst>
                <a:ext uri="{FF2B5EF4-FFF2-40B4-BE49-F238E27FC236}">
                  <a16:creationId xmlns:a16="http://schemas.microsoft.com/office/drawing/2014/main" id="{EC554A90-B030-41FF-A4B3-8594039F1FE5}"/>
                </a:ext>
              </a:extLst>
            </p:cNvPr>
            <p:cNvCxnSpPr>
              <a:cxnSpLocks noChangeShapeType="1"/>
              <a:stCxn id="40966" idx="0"/>
              <a:endCxn id="40965" idx="4"/>
            </p:cNvCxnSpPr>
            <p:nvPr/>
          </p:nvCxnSpPr>
          <p:spPr bwMode="auto">
            <a:xfrm flipV="1">
              <a:off x="2756" y="1683"/>
              <a:ext cx="0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1" name="AutoShape 21">
              <a:extLst>
                <a:ext uri="{FF2B5EF4-FFF2-40B4-BE49-F238E27FC236}">
                  <a16:creationId xmlns:a16="http://schemas.microsoft.com/office/drawing/2014/main" id="{079CB441-E340-4982-8EEE-139F05A97889}"/>
                </a:ext>
              </a:extLst>
            </p:cNvPr>
            <p:cNvCxnSpPr>
              <a:cxnSpLocks noChangeShapeType="1"/>
              <a:stCxn id="40964" idx="6"/>
              <a:endCxn id="40969" idx="1"/>
            </p:cNvCxnSpPr>
            <p:nvPr/>
          </p:nvCxnSpPr>
          <p:spPr bwMode="auto">
            <a:xfrm>
              <a:off x="2880" y="992"/>
              <a:ext cx="580" cy="16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2" name="AutoShape 22">
              <a:extLst>
                <a:ext uri="{FF2B5EF4-FFF2-40B4-BE49-F238E27FC236}">
                  <a16:creationId xmlns:a16="http://schemas.microsoft.com/office/drawing/2014/main" id="{0D421C6C-A424-41C5-BF56-B63DAE11E555}"/>
                </a:ext>
              </a:extLst>
            </p:cNvPr>
            <p:cNvCxnSpPr>
              <a:cxnSpLocks noChangeShapeType="1"/>
              <a:stCxn id="40965" idx="6"/>
              <a:endCxn id="40969" idx="3"/>
            </p:cNvCxnSpPr>
            <p:nvPr/>
          </p:nvCxnSpPr>
          <p:spPr bwMode="auto">
            <a:xfrm flipV="1">
              <a:off x="2880" y="1330"/>
              <a:ext cx="580" cy="2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3" name="AutoShape 23">
              <a:extLst>
                <a:ext uri="{FF2B5EF4-FFF2-40B4-BE49-F238E27FC236}">
                  <a16:creationId xmlns:a16="http://schemas.microsoft.com/office/drawing/2014/main" id="{2157ED22-853D-4DFD-BDBC-F1DCE8940BA9}"/>
                </a:ext>
              </a:extLst>
            </p:cNvPr>
            <p:cNvCxnSpPr>
              <a:cxnSpLocks noChangeShapeType="1"/>
              <a:stCxn id="40966" idx="6"/>
              <a:endCxn id="40970" idx="3"/>
            </p:cNvCxnSpPr>
            <p:nvPr/>
          </p:nvCxnSpPr>
          <p:spPr bwMode="auto">
            <a:xfrm flipV="1">
              <a:off x="2880" y="1943"/>
              <a:ext cx="580" cy="2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4" name="AutoShape 24">
              <a:extLst>
                <a:ext uri="{FF2B5EF4-FFF2-40B4-BE49-F238E27FC236}">
                  <a16:creationId xmlns:a16="http://schemas.microsoft.com/office/drawing/2014/main" id="{658BEDD8-CF24-4A77-A5A7-501284DD646E}"/>
                </a:ext>
              </a:extLst>
            </p:cNvPr>
            <p:cNvCxnSpPr>
              <a:cxnSpLocks noChangeShapeType="1"/>
              <a:stCxn id="40969" idx="4"/>
              <a:endCxn id="40970" idx="0"/>
            </p:cNvCxnSpPr>
            <p:nvPr/>
          </p:nvCxnSpPr>
          <p:spPr bwMode="auto">
            <a:xfrm>
              <a:off x="3549" y="1366"/>
              <a:ext cx="0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5" name="AutoShape 25">
              <a:extLst>
                <a:ext uri="{FF2B5EF4-FFF2-40B4-BE49-F238E27FC236}">
                  <a16:creationId xmlns:a16="http://schemas.microsoft.com/office/drawing/2014/main" id="{0E1CD3FD-F6EA-4A94-A457-C0024DDE30F6}"/>
                </a:ext>
              </a:extLst>
            </p:cNvPr>
            <p:cNvCxnSpPr>
              <a:cxnSpLocks noChangeShapeType="1"/>
              <a:stCxn id="40969" idx="6"/>
              <a:endCxn id="40972" idx="1"/>
            </p:cNvCxnSpPr>
            <p:nvPr/>
          </p:nvCxnSpPr>
          <p:spPr bwMode="auto">
            <a:xfrm>
              <a:off x="3673" y="1242"/>
              <a:ext cx="558" cy="18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6" name="AutoShape 26">
              <a:extLst>
                <a:ext uri="{FF2B5EF4-FFF2-40B4-BE49-F238E27FC236}">
                  <a16:creationId xmlns:a16="http://schemas.microsoft.com/office/drawing/2014/main" id="{A487E6F9-AFFB-421B-B2B2-FE59C1954CA2}"/>
                </a:ext>
              </a:extLst>
            </p:cNvPr>
            <p:cNvCxnSpPr>
              <a:cxnSpLocks noChangeShapeType="1"/>
              <a:stCxn id="40970" idx="6"/>
              <a:endCxn id="40972" idx="3"/>
            </p:cNvCxnSpPr>
            <p:nvPr/>
          </p:nvCxnSpPr>
          <p:spPr bwMode="auto">
            <a:xfrm flipV="1">
              <a:off x="3673" y="1602"/>
              <a:ext cx="558" cy="25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987" name="Text Box 27">
            <a:extLst>
              <a:ext uri="{FF2B5EF4-FFF2-40B4-BE49-F238E27FC236}">
                <a16:creationId xmlns:a16="http://schemas.microsoft.com/office/drawing/2014/main" id="{6A296449-CED9-4777-92BF-B73E770C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063" y="3832226"/>
            <a:ext cx="49132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Интерпретация: вершины – элементарные работы; </a:t>
            </a:r>
            <a:br>
              <a:rPr lang="ru-RU" altLang="ru-RU" sz="1600"/>
            </a:br>
            <a:r>
              <a:rPr lang="ru-RU" altLang="ru-RU" sz="1600"/>
              <a:t>                           дуги – зависимость работ друг от друга.</a:t>
            </a:r>
          </a:p>
        </p:txBody>
      </p:sp>
      <p:sp>
        <p:nvSpPr>
          <p:cNvPr id="40988" name="Text Box 28">
            <a:extLst>
              <a:ext uri="{FF2B5EF4-FFF2-40B4-BE49-F238E27FC236}">
                <a16:creationId xmlns:a16="http://schemas.microsoft.com/office/drawing/2014/main" id="{09EBD709-7512-417F-8902-E9374C72A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4473576"/>
            <a:ext cx="74939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Задача: выстроить работы в последовательности, в которой никакая следующая</a:t>
            </a:r>
            <a:br>
              <a:rPr lang="ru-RU" altLang="ru-RU" sz="1600"/>
            </a:br>
            <a:r>
              <a:rPr lang="ru-RU" altLang="ru-RU" sz="1600"/>
              <a:t>              задача не может зависеть от предыдущей (дуги направлены только вперед)</a:t>
            </a:r>
          </a:p>
        </p:txBody>
      </p:sp>
      <p:grpSp>
        <p:nvGrpSpPr>
          <p:cNvPr id="41039" name="Group 79">
            <a:extLst>
              <a:ext uri="{FF2B5EF4-FFF2-40B4-BE49-F238E27FC236}">
                <a16:creationId xmlns:a16="http://schemas.microsoft.com/office/drawing/2014/main" id="{618A81BE-7A3B-4A30-8184-5D1071C3C55C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5373688"/>
            <a:ext cx="7488237" cy="863600"/>
            <a:chOff x="431" y="3385"/>
            <a:chExt cx="4717" cy="544"/>
          </a:xfrm>
        </p:grpSpPr>
        <p:sp>
          <p:nvSpPr>
            <p:cNvPr id="40989" name="Oval 29">
              <a:extLst>
                <a:ext uri="{FF2B5EF4-FFF2-40B4-BE49-F238E27FC236}">
                  <a16:creationId xmlns:a16="http://schemas.microsoft.com/office/drawing/2014/main" id="{1084EBAC-476D-429F-B098-4C238A0A6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4</a:t>
              </a:r>
            </a:p>
          </p:txBody>
        </p:sp>
        <p:sp>
          <p:nvSpPr>
            <p:cNvPr id="40990" name="Oval 30">
              <a:extLst>
                <a:ext uri="{FF2B5EF4-FFF2-40B4-BE49-F238E27FC236}">
                  <a16:creationId xmlns:a16="http://schemas.microsoft.com/office/drawing/2014/main" id="{1F63BA02-4356-4E65-9E76-CBC472158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2</a:t>
              </a:r>
            </a:p>
          </p:txBody>
        </p:sp>
        <p:sp>
          <p:nvSpPr>
            <p:cNvPr id="40991" name="Oval 31">
              <a:extLst>
                <a:ext uri="{FF2B5EF4-FFF2-40B4-BE49-F238E27FC236}">
                  <a16:creationId xmlns:a16="http://schemas.microsoft.com/office/drawing/2014/main" id="{0F40007A-F518-4337-B092-2C9FE2B4B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7</a:t>
              </a:r>
            </a:p>
          </p:txBody>
        </p:sp>
        <p:sp>
          <p:nvSpPr>
            <p:cNvPr id="40992" name="Oval 32">
              <a:extLst>
                <a:ext uri="{FF2B5EF4-FFF2-40B4-BE49-F238E27FC236}">
                  <a16:creationId xmlns:a16="http://schemas.microsoft.com/office/drawing/2014/main" id="{17B96DC9-1E71-482C-8599-CB17482F2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9</a:t>
              </a:r>
            </a:p>
          </p:txBody>
        </p:sp>
        <p:sp>
          <p:nvSpPr>
            <p:cNvPr id="40993" name="Oval 33">
              <a:extLst>
                <a:ext uri="{FF2B5EF4-FFF2-40B4-BE49-F238E27FC236}">
                  <a16:creationId xmlns:a16="http://schemas.microsoft.com/office/drawing/2014/main" id="{6171EF3D-36B9-4A6A-B492-1308AE473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3</a:t>
              </a:r>
            </a:p>
          </p:txBody>
        </p:sp>
        <p:sp>
          <p:nvSpPr>
            <p:cNvPr id="40994" name="Oval 34">
              <a:extLst>
                <a:ext uri="{FF2B5EF4-FFF2-40B4-BE49-F238E27FC236}">
                  <a16:creationId xmlns:a16="http://schemas.microsoft.com/office/drawing/2014/main" id="{320D77B3-E276-41DC-97EB-876A703DD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5</a:t>
              </a:r>
            </a:p>
          </p:txBody>
        </p:sp>
        <p:sp>
          <p:nvSpPr>
            <p:cNvPr id="40995" name="Oval 35">
              <a:extLst>
                <a:ext uri="{FF2B5EF4-FFF2-40B4-BE49-F238E27FC236}">
                  <a16:creationId xmlns:a16="http://schemas.microsoft.com/office/drawing/2014/main" id="{6B4026AE-BA9A-4DD4-8CD9-F986126FE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1</a:t>
              </a:r>
            </a:p>
          </p:txBody>
        </p:sp>
        <p:sp>
          <p:nvSpPr>
            <p:cNvPr id="40996" name="Oval 36">
              <a:extLst>
                <a:ext uri="{FF2B5EF4-FFF2-40B4-BE49-F238E27FC236}">
                  <a16:creationId xmlns:a16="http://schemas.microsoft.com/office/drawing/2014/main" id="{0543E724-E120-448F-9756-1C45F9A1B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6</a:t>
              </a:r>
            </a:p>
          </p:txBody>
        </p:sp>
        <p:sp>
          <p:nvSpPr>
            <p:cNvPr id="40998" name="Oval 38">
              <a:extLst>
                <a:ext uri="{FF2B5EF4-FFF2-40B4-BE49-F238E27FC236}">
                  <a16:creationId xmlns:a16="http://schemas.microsoft.com/office/drawing/2014/main" id="{51F45295-7D44-4996-A6C1-10A37D247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2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8</a:t>
              </a:r>
            </a:p>
          </p:txBody>
        </p:sp>
        <p:cxnSp>
          <p:nvCxnSpPr>
            <p:cNvPr id="40999" name="AutoShape 39">
              <a:extLst>
                <a:ext uri="{FF2B5EF4-FFF2-40B4-BE49-F238E27FC236}">
                  <a16:creationId xmlns:a16="http://schemas.microsoft.com/office/drawing/2014/main" id="{D9EEBAD2-2084-4BE1-8FEF-E29045321D05}"/>
                </a:ext>
              </a:extLst>
            </p:cNvPr>
            <p:cNvCxnSpPr>
              <a:cxnSpLocks noChangeShapeType="1"/>
              <a:endCxn id="40989" idx="2"/>
            </p:cNvCxnSpPr>
            <p:nvPr/>
          </p:nvCxnSpPr>
          <p:spPr bwMode="auto">
            <a:xfrm>
              <a:off x="431" y="3645"/>
              <a:ext cx="249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0" name="AutoShape 40">
              <a:extLst>
                <a:ext uri="{FF2B5EF4-FFF2-40B4-BE49-F238E27FC236}">
                  <a16:creationId xmlns:a16="http://schemas.microsoft.com/office/drawing/2014/main" id="{1A8BC44D-DB1C-461E-A875-601819F175E3}"/>
                </a:ext>
              </a:extLst>
            </p:cNvPr>
            <p:cNvCxnSpPr>
              <a:cxnSpLocks noChangeShapeType="1"/>
              <a:stCxn id="40989" idx="6"/>
              <a:endCxn id="40990" idx="2"/>
            </p:cNvCxnSpPr>
            <p:nvPr/>
          </p:nvCxnSpPr>
          <p:spPr bwMode="auto">
            <a:xfrm>
              <a:off x="929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1" name="AutoShape 41">
              <a:extLst>
                <a:ext uri="{FF2B5EF4-FFF2-40B4-BE49-F238E27FC236}">
                  <a16:creationId xmlns:a16="http://schemas.microsoft.com/office/drawing/2014/main" id="{D0B4CB83-74A8-496F-9826-1E36BEE98866}"/>
                </a:ext>
              </a:extLst>
            </p:cNvPr>
            <p:cNvCxnSpPr>
              <a:cxnSpLocks noChangeShapeType="1"/>
              <a:stCxn id="40990" idx="6"/>
              <a:endCxn id="40991" idx="2"/>
            </p:cNvCxnSpPr>
            <p:nvPr/>
          </p:nvCxnSpPr>
          <p:spPr bwMode="auto">
            <a:xfrm>
              <a:off x="1428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2" name="AutoShape 42">
              <a:extLst>
                <a:ext uri="{FF2B5EF4-FFF2-40B4-BE49-F238E27FC236}">
                  <a16:creationId xmlns:a16="http://schemas.microsoft.com/office/drawing/2014/main" id="{1F18A027-B606-41EA-AEE0-21B6F6DA2099}"/>
                </a:ext>
              </a:extLst>
            </p:cNvPr>
            <p:cNvCxnSpPr>
              <a:cxnSpLocks noChangeShapeType="1"/>
              <a:stCxn id="40991" idx="6"/>
              <a:endCxn id="40992" idx="2"/>
            </p:cNvCxnSpPr>
            <p:nvPr/>
          </p:nvCxnSpPr>
          <p:spPr bwMode="auto">
            <a:xfrm>
              <a:off x="1927" y="3646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3" name="AutoShape 43">
              <a:extLst>
                <a:ext uri="{FF2B5EF4-FFF2-40B4-BE49-F238E27FC236}">
                  <a16:creationId xmlns:a16="http://schemas.microsoft.com/office/drawing/2014/main" id="{35E77FFF-93D1-4F36-A85C-369F73A72166}"/>
                </a:ext>
              </a:extLst>
            </p:cNvPr>
            <p:cNvCxnSpPr>
              <a:cxnSpLocks noChangeShapeType="1"/>
              <a:stCxn id="40992" idx="6"/>
              <a:endCxn id="40994" idx="2"/>
            </p:cNvCxnSpPr>
            <p:nvPr/>
          </p:nvCxnSpPr>
          <p:spPr bwMode="auto">
            <a:xfrm>
              <a:off x="2403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4" name="AutoShape 44">
              <a:extLst>
                <a:ext uri="{FF2B5EF4-FFF2-40B4-BE49-F238E27FC236}">
                  <a16:creationId xmlns:a16="http://schemas.microsoft.com/office/drawing/2014/main" id="{63CAFF15-8317-490D-9F6C-3415B8F77661}"/>
                </a:ext>
              </a:extLst>
            </p:cNvPr>
            <p:cNvCxnSpPr>
              <a:cxnSpLocks noChangeShapeType="1"/>
              <a:stCxn id="40994" idx="6"/>
              <a:endCxn id="40995" idx="2"/>
            </p:cNvCxnSpPr>
            <p:nvPr/>
          </p:nvCxnSpPr>
          <p:spPr bwMode="auto">
            <a:xfrm>
              <a:off x="2902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5" name="AutoShape 45">
              <a:extLst>
                <a:ext uri="{FF2B5EF4-FFF2-40B4-BE49-F238E27FC236}">
                  <a16:creationId xmlns:a16="http://schemas.microsoft.com/office/drawing/2014/main" id="{1C4C9D7B-EF72-4A11-8FB4-825706D38121}"/>
                </a:ext>
              </a:extLst>
            </p:cNvPr>
            <p:cNvCxnSpPr>
              <a:cxnSpLocks noChangeShapeType="1"/>
              <a:stCxn id="40995" idx="6"/>
              <a:endCxn id="40993" idx="2"/>
            </p:cNvCxnSpPr>
            <p:nvPr/>
          </p:nvCxnSpPr>
          <p:spPr bwMode="auto">
            <a:xfrm>
              <a:off x="3401" y="3646"/>
              <a:ext cx="27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6" name="AutoShape 46">
              <a:extLst>
                <a:ext uri="{FF2B5EF4-FFF2-40B4-BE49-F238E27FC236}">
                  <a16:creationId xmlns:a16="http://schemas.microsoft.com/office/drawing/2014/main" id="{ACE503A2-C189-4F72-B9F2-3E2F762D3C19}"/>
                </a:ext>
              </a:extLst>
            </p:cNvPr>
            <p:cNvCxnSpPr>
              <a:cxnSpLocks noChangeShapeType="1"/>
              <a:stCxn id="40993" idx="6"/>
              <a:endCxn id="40998" idx="2"/>
            </p:cNvCxnSpPr>
            <p:nvPr/>
          </p:nvCxnSpPr>
          <p:spPr bwMode="auto">
            <a:xfrm>
              <a:off x="3923" y="3646"/>
              <a:ext cx="24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7" name="AutoShape 47">
              <a:extLst>
                <a:ext uri="{FF2B5EF4-FFF2-40B4-BE49-F238E27FC236}">
                  <a16:creationId xmlns:a16="http://schemas.microsoft.com/office/drawing/2014/main" id="{1AE0389A-45D9-434D-A770-F06FD549627B}"/>
                </a:ext>
              </a:extLst>
            </p:cNvPr>
            <p:cNvCxnSpPr>
              <a:cxnSpLocks noChangeShapeType="1"/>
              <a:stCxn id="40998" idx="6"/>
              <a:endCxn id="40996" idx="2"/>
            </p:cNvCxnSpPr>
            <p:nvPr/>
          </p:nvCxnSpPr>
          <p:spPr bwMode="auto">
            <a:xfrm>
              <a:off x="4421" y="3646"/>
              <a:ext cx="27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8" name="AutoShape 48">
              <a:extLst>
                <a:ext uri="{FF2B5EF4-FFF2-40B4-BE49-F238E27FC236}">
                  <a16:creationId xmlns:a16="http://schemas.microsoft.com/office/drawing/2014/main" id="{37A0D658-E50B-4735-8806-C5102D31F8ED}"/>
                </a:ext>
              </a:extLst>
            </p:cNvPr>
            <p:cNvCxnSpPr>
              <a:cxnSpLocks noChangeShapeType="1"/>
              <a:stCxn id="40996" idx="6"/>
            </p:cNvCxnSpPr>
            <p:nvPr/>
          </p:nvCxnSpPr>
          <p:spPr bwMode="auto">
            <a:xfrm flipV="1">
              <a:off x="4943" y="3645"/>
              <a:ext cx="205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9" name="AutoShape 49">
              <a:extLst>
                <a:ext uri="{FF2B5EF4-FFF2-40B4-BE49-F238E27FC236}">
                  <a16:creationId xmlns:a16="http://schemas.microsoft.com/office/drawing/2014/main" id="{225149FF-739D-4923-A09E-D14F1E775C8D}"/>
                </a:ext>
              </a:extLst>
            </p:cNvPr>
            <p:cNvCxnSpPr>
              <a:cxnSpLocks noChangeShapeType="1"/>
              <a:stCxn id="40989" idx="7"/>
            </p:cNvCxnSpPr>
            <p:nvPr/>
          </p:nvCxnSpPr>
          <p:spPr bwMode="auto">
            <a:xfrm rot="16200000">
              <a:off x="938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0" name="AutoShape 50">
              <a:extLst>
                <a:ext uri="{FF2B5EF4-FFF2-40B4-BE49-F238E27FC236}">
                  <a16:creationId xmlns:a16="http://schemas.microsoft.com/office/drawing/2014/main" id="{B51DF8FF-F573-4377-99A1-EBB16BB44325}"/>
                </a:ext>
              </a:extLst>
            </p:cNvPr>
            <p:cNvCxnSpPr>
              <a:cxnSpLocks noChangeShapeType="1"/>
              <a:endCxn id="40990" idx="1"/>
            </p:cNvCxnSpPr>
            <p:nvPr/>
          </p:nvCxnSpPr>
          <p:spPr bwMode="auto">
            <a:xfrm>
              <a:off x="1043" y="3498"/>
              <a:ext cx="172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1" name="AutoShape 51">
              <a:extLst>
                <a:ext uri="{FF2B5EF4-FFF2-40B4-BE49-F238E27FC236}">
                  <a16:creationId xmlns:a16="http://schemas.microsoft.com/office/drawing/2014/main" id="{520266E3-2DF6-40A9-B281-0B1DB164370B}"/>
                </a:ext>
              </a:extLst>
            </p:cNvPr>
            <p:cNvCxnSpPr>
              <a:cxnSpLocks noChangeShapeType="1"/>
              <a:stCxn id="40989" idx="0"/>
            </p:cNvCxnSpPr>
            <p:nvPr/>
          </p:nvCxnSpPr>
          <p:spPr bwMode="auto">
            <a:xfrm rot="16200000">
              <a:off x="1003" y="3209"/>
              <a:ext cx="114" cy="51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2" name="AutoShape 52">
              <a:extLst>
                <a:ext uri="{FF2B5EF4-FFF2-40B4-BE49-F238E27FC236}">
                  <a16:creationId xmlns:a16="http://schemas.microsoft.com/office/drawing/2014/main" id="{C2A744A1-C4E1-4C9C-9EEF-69FDC7F6BBF5}"/>
                </a:ext>
              </a:extLst>
            </p:cNvPr>
            <p:cNvCxnSpPr>
              <a:cxnSpLocks noChangeShapeType="1"/>
              <a:endCxn id="40991" idx="1"/>
            </p:cNvCxnSpPr>
            <p:nvPr/>
          </p:nvCxnSpPr>
          <p:spPr bwMode="auto">
            <a:xfrm>
              <a:off x="1315" y="3407"/>
              <a:ext cx="39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4" name="AutoShape 54">
              <a:extLst>
                <a:ext uri="{FF2B5EF4-FFF2-40B4-BE49-F238E27FC236}">
                  <a16:creationId xmlns:a16="http://schemas.microsoft.com/office/drawing/2014/main" id="{3988D123-9FD8-4C47-8E2A-CF4BFDDA6F08}"/>
                </a:ext>
              </a:extLst>
            </p:cNvPr>
            <p:cNvCxnSpPr>
              <a:cxnSpLocks noChangeShapeType="1"/>
              <a:stCxn id="40990" idx="5"/>
            </p:cNvCxnSpPr>
            <p:nvPr/>
          </p:nvCxnSpPr>
          <p:spPr bwMode="auto">
            <a:xfrm rot="16200000" flipH="1">
              <a:off x="1437" y="3689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5" name="AutoShape 55">
              <a:extLst>
                <a:ext uri="{FF2B5EF4-FFF2-40B4-BE49-F238E27FC236}">
                  <a16:creationId xmlns:a16="http://schemas.microsoft.com/office/drawing/2014/main" id="{1DBA1AAA-FDEC-4B36-B506-DE56F53896F7}"/>
                </a:ext>
              </a:extLst>
            </p:cNvPr>
            <p:cNvCxnSpPr>
              <a:cxnSpLocks noChangeShapeType="1"/>
              <a:endCxn id="40991" idx="3"/>
            </p:cNvCxnSpPr>
            <p:nvPr/>
          </p:nvCxnSpPr>
          <p:spPr bwMode="auto">
            <a:xfrm flipV="1">
              <a:off x="1542" y="3734"/>
              <a:ext cx="172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6" name="AutoShape 56">
              <a:extLst>
                <a:ext uri="{FF2B5EF4-FFF2-40B4-BE49-F238E27FC236}">
                  <a16:creationId xmlns:a16="http://schemas.microsoft.com/office/drawing/2014/main" id="{6276907E-631F-483D-9C12-2A24D1C8419D}"/>
                </a:ext>
              </a:extLst>
            </p:cNvPr>
            <p:cNvCxnSpPr>
              <a:cxnSpLocks noChangeShapeType="1"/>
              <a:stCxn id="40990" idx="5"/>
            </p:cNvCxnSpPr>
            <p:nvPr/>
          </p:nvCxnSpPr>
          <p:spPr bwMode="auto">
            <a:xfrm rot="16200000" flipH="1">
              <a:off x="1653" y="3473"/>
              <a:ext cx="127" cy="64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7" name="AutoShape 57">
              <a:extLst>
                <a:ext uri="{FF2B5EF4-FFF2-40B4-BE49-F238E27FC236}">
                  <a16:creationId xmlns:a16="http://schemas.microsoft.com/office/drawing/2014/main" id="{53EB416E-E161-4955-8AF2-0E8EB3E8ACA9}"/>
                </a:ext>
              </a:extLst>
            </p:cNvPr>
            <p:cNvCxnSpPr>
              <a:cxnSpLocks noChangeShapeType="1"/>
              <a:endCxn id="40994" idx="3"/>
            </p:cNvCxnSpPr>
            <p:nvPr/>
          </p:nvCxnSpPr>
          <p:spPr bwMode="auto">
            <a:xfrm flipV="1">
              <a:off x="2041" y="3734"/>
              <a:ext cx="648" cy="12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8" name="AutoShape 58">
              <a:extLst>
                <a:ext uri="{FF2B5EF4-FFF2-40B4-BE49-F238E27FC236}">
                  <a16:creationId xmlns:a16="http://schemas.microsoft.com/office/drawing/2014/main" id="{980DFE61-E4B8-4E92-AA55-A20B1AE53B04}"/>
                </a:ext>
              </a:extLst>
            </p:cNvPr>
            <p:cNvCxnSpPr>
              <a:cxnSpLocks noChangeShapeType="1"/>
              <a:stCxn id="40990" idx="4"/>
            </p:cNvCxnSpPr>
            <p:nvPr/>
          </p:nvCxnSpPr>
          <p:spPr bwMode="auto">
            <a:xfrm rot="16200000" flipH="1">
              <a:off x="1717" y="3357"/>
              <a:ext cx="159" cy="98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9" name="AutoShape 59">
              <a:extLst>
                <a:ext uri="{FF2B5EF4-FFF2-40B4-BE49-F238E27FC236}">
                  <a16:creationId xmlns:a16="http://schemas.microsoft.com/office/drawing/2014/main" id="{66880D7D-DE06-47E1-BBD8-D96FE8695EE3}"/>
                </a:ext>
              </a:extLst>
            </p:cNvPr>
            <p:cNvCxnSpPr>
              <a:cxnSpLocks noChangeShapeType="1"/>
              <a:endCxn id="40995" idx="3"/>
            </p:cNvCxnSpPr>
            <p:nvPr/>
          </p:nvCxnSpPr>
          <p:spPr bwMode="auto">
            <a:xfrm flipV="1">
              <a:off x="2290" y="3734"/>
              <a:ext cx="898" cy="19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0" name="AutoShape 60">
              <a:extLst>
                <a:ext uri="{FF2B5EF4-FFF2-40B4-BE49-F238E27FC236}">
                  <a16:creationId xmlns:a16="http://schemas.microsoft.com/office/drawing/2014/main" id="{24E9BD88-5F8E-4B04-A0E1-A53EBB8C2439}"/>
                </a:ext>
              </a:extLst>
            </p:cNvPr>
            <p:cNvCxnSpPr>
              <a:cxnSpLocks noChangeShapeType="1"/>
              <a:stCxn id="40991" idx="7"/>
            </p:cNvCxnSpPr>
            <p:nvPr/>
          </p:nvCxnSpPr>
          <p:spPr bwMode="auto">
            <a:xfrm rot="16200000">
              <a:off x="1936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1" name="AutoShape 61">
              <a:extLst>
                <a:ext uri="{FF2B5EF4-FFF2-40B4-BE49-F238E27FC236}">
                  <a16:creationId xmlns:a16="http://schemas.microsoft.com/office/drawing/2014/main" id="{9C775595-9611-4437-A99F-B703857FC7D0}"/>
                </a:ext>
              </a:extLst>
            </p:cNvPr>
            <p:cNvCxnSpPr>
              <a:cxnSpLocks noChangeShapeType="1"/>
              <a:endCxn id="40992" idx="1"/>
            </p:cNvCxnSpPr>
            <p:nvPr/>
          </p:nvCxnSpPr>
          <p:spPr bwMode="auto">
            <a:xfrm>
              <a:off x="2041" y="3498"/>
              <a:ext cx="149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2" name="AutoShape 62">
              <a:extLst>
                <a:ext uri="{FF2B5EF4-FFF2-40B4-BE49-F238E27FC236}">
                  <a16:creationId xmlns:a16="http://schemas.microsoft.com/office/drawing/2014/main" id="{C49BBA37-1CAC-449B-9954-529F9E108B74}"/>
                </a:ext>
              </a:extLst>
            </p:cNvPr>
            <p:cNvCxnSpPr>
              <a:cxnSpLocks noChangeShapeType="1"/>
              <a:stCxn id="40992" idx="7"/>
            </p:cNvCxnSpPr>
            <p:nvPr/>
          </p:nvCxnSpPr>
          <p:spPr bwMode="auto">
            <a:xfrm rot="16200000">
              <a:off x="2412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3" name="AutoShape 63">
              <a:extLst>
                <a:ext uri="{FF2B5EF4-FFF2-40B4-BE49-F238E27FC236}">
                  <a16:creationId xmlns:a16="http://schemas.microsoft.com/office/drawing/2014/main" id="{ADEFCE5A-DBDB-4DD4-8EFE-EB034EF7EBF9}"/>
                </a:ext>
              </a:extLst>
            </p:cNvPr>
            <p:cNvCxnSpPr>
              <a:cxnSpLocks noChangeShapeType="1"/>
              <a:endCxn id="40994" idx="1"/>
            </p:cNvCxnSpPr>
            <p:nvPr/>
          </p:nvCxnSpPr>
          <p:spPr bwMode="auto">
            <a:xfrm>
              <a:off x="2517" y="3498"/>
              <a:ext cx="172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4" name="AutoShape 64">
              <a:extLst>
                <a:ext uri="{FF2B5EF4-FFF2-40B4-BE49-F238E27FC236}">
                  <a16:creationId xmlns:a16="http://schemas.microsoft.com/office/drawing/2014/main" id="{C89E1264-51AA-4678-A48F-D7788341EDBE}"/>
                </a:ext>
              </a:extLst>
            </p:cNvPr>
            <p:cNvCxnSpPr>
              <a:cxnSpLocks noChangeShapeType="1"/>
              <a:stCxn id="40991" idx="7"/>
            </p:cNvCxnSpPr>
            <p:nvPr/>
          </p:nvCxnSpPr>
          <p:spPr bwMode="auto">
            <a:xfrm rot="16200000">
              <a:off x="2005" y="3271"/>
              <a:ext cx="172" cy="39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5" name="AutoShape 65">
              <a:extLst>
                <a:ext uri="{FF2B5EF4-FFF2-40B4-BE49-F238E27FC236}">
                  <a16:creationId xmlns:a16="http://schemas.microsoft.com/office/drawing/2014/main" id="{ABC055D3-4421-4A8C-BCC8-5F5C21B86438}"/>
                </a:ext>
              </a:extLst>
            </p:cNvPr>
            <p:cNvCxnSpPr>
              <a:cxnSpLocks noChangeShapeType="1"/>
              <a:endCxn id="40994" idx="1"/>
            </p:cNvCxnSpPr>
            <p:nvPr/>
          </p:nvCxnSpPr>
          <p:spPr bwMode="auto">
            <a:xfrm>
              <a:off x="2290" y="3385"/>
              <a:ext cx="399" cy="17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6" name="AutoShape 66">
              <a:extLst>
                <a:ext uri="{FF2B5EF4-FFF2-40B4-BE49-F238E27FC236}">
                  <a16:creationId xmlns:a16="http://schemas.microsoft.com/office/drawing/2014/main" id="{5B5159D7-9F29-49FF-B68E-4532CDAD86D7}"/>
                </a:ext>
              </a:extLst>
            </p:cNvPr>
            <p:cNvCxnSpPr>
              <a:cxnSpLocks noChangeShapeType="1"/>
              <a:stCxn id="40995" idx="7"/>
            </p:cNvCxnSpPr>
            <p:nvPr/>
          </p:nvCxnSpPr>
          <p:spPr bwMode="auto">
            <a:xfrm rot="16200000">
              <a:off x="3410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7" name="AutoShape 67">
              <a:extLst>
                <a:ext uri="{FF2B5EF4-FFF2-40B4-BE49-F238E27FC236}">
                  <a16:creationId xmlns:a16="http://schemas.microsoft.com/office/drawing/2014/main" id="{4623F53D-4A54-4A3C-9947-7E49FC6A6BFC}"/>
                </a:ext>
              </a:extLst>
            </p:cNvPr>
            <p:cNvCxnSpPr>
              <a:cxnSpLocks noChangeShapeType="1"/>
              <a:endCxn id="40993" idx="1"/>
            </p:cNvCxnSpPr>
            <p:nvPr/>
          </p:nvCxnSpPr>
          <p:spPr bwMode="auto">
            <a:xfrm>
              <a:off x="3515" y="3498"/>
              <a:ext cx="195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8" name="AutoShape 68">
              <a:extLst>
                <a:ext uri="{FF2B5EF4-FFF2-40B4-BE49-F238E27FC236}">
                  <a16:creationId xmlns:a16="http://schemas.microsoft.com/office/drawing/2014/main" id="{B331E253-EC83-4C88-A5E7-143E37D7F0E3}"/>
                </a:ext>
              </a:extLst>
            </p:cNvPr>
            <p:cNvCxnSpPr>
              <a:cxnSpLocks noChangeShapeType="1"/>
              <a:stCxn id="40994" idx="7"/>
            </p:cNvCxnSpPr>
            <p:nvPr/>
          </p:nvCxnSpPr>
          <p:spPr bwMode="auto">
            <a:xfrm rot="16200000">
              <a:off x="2991" y="3282"/>
              <a:ext cx="150" cy="4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9" name="AutoShape 69">
              <a:extLst>
                <a:ext uri="{FF2B5EF4-FFF2-40B4-BE49-F238E27FC236}">
                  <a16:creationId xmlns:a16="http://schemas.microsoft.com/office/drawing/2014/main" id="{F16228ED-3F17-4AAB-A980-938F0A91EE4C}"/>
                </a:ext>
              </a:extLst>
            </p:cNvPr>
            <p:cNvCxnSpPr>
              <a:cxnSpLocks noChangeShapeType="1"/>
              <a:endCxn id="40993" idx="0"/>
            </p:cNvCxnSpPr>
            <p:nvPr/>
          </p:nvCxnSpPr>
          <p:spPr bwMode="auto">
            <a:xfrm>
              <a:off x="3266" y="3407"/>
              <a:ext cx="533" cy="11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0" name="AutoShape 70">
              <a:extLst>
                <a:ext uri="{FF2B5EF4-FFF2-40B4-BE49-F238E27FC236}">
                  <a16:creationId xmlns:a16="http://schemas.microsoft.com/office/drawing/2014/main" id="{2A393584-CFF9-4B4D-BCA3-0DB98B131081}"/>
                </a:ext>
              </a:extLst>
            </p:cNvPr>
            <p:cNvCxnSpPr>
              <a:cxnSpLocks noChangeShapeType="1"/>
              <a:stCxn id="40992" idx="5"/>
            </p:cNvCxnSpPr>
            <p:nvPr/>
          </p:nvCxnSpPr>
          <p:spPr bwMode="auto">
            <a:xfrm rot="16200000" flipH="1">
              <a:off x="2753" y="3348"/>
              <a:ext cx="150" cy="92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1" name="AutoShape 71">
              <a:extLst>
                <a:ext uri="{FF2B5EF4-FFF2-40B4-BE49-F238E27FC236}">
                  <a16:creationId xmlns:a16="http://schemas.microsoft.com/office/drawing/2014/main" id="{A832F3F4-76F2-47C0-AF7D-242799C94D8D}"/>
                </a:ext>
              </a:extLst>
            </p:cNvPr>
            <p:cNvCxnSpPr>
              <a:cxnSpLocks noChangeShapeType="1"/>
              <a:endCxn id="40998" idx="3"/>
            </p:cNvCxnSpPr>
            <p:nvPr/>
          </p:nvCxnSpPr>
          <p:spPr bwMode="auto">
            <a:xfrm flipV="1">
              <a:off x="3288" y="3734"/>
              <a:ext cx="920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2" name="AutoShape 72">
              <a:extLst>
                <a:ext uri="{FF2B5EF4-FFF2-40B4-BE49-F238E27FC236}">
                  <a16:creationId xmlns:a16="http://schemas.microsoft.com/office/drawing/2014/main" id="{22432A95-DE7F-44BD-861A-CAB4E2898F2C}"/>
                </a:ext>
              </a:extLst>
            </p:cNvPr>
            <p:cNvCxnSpPr>
              <a:cxnSpLocks noChangeShapeType="1"/>
              <a:stCxn id="40993" idx="7"/>
            </p:cNvCxnSpPr>
            <p:nvPr/>
          </p:nvCxnSpPr>
          <p:spPr bwMode="auto">
            <a:xfrm rot="16200000">
              <a:off x="3932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3" name="AutoShape 73">
              <a:extLst>
                <a:ext uri="{FF2B5EF4-FFF2-40B4-BE49-F238E27FC236}">
                  <a16:creationId xmlns:a16="http://schemas.microsoft.com/office/drawing/2014/main" id="{0E239D62-ADE9-48B1-8073-6BF78FE259D4}"/>
                </a:ext>
              </a:extLst>
            </p:cNvPr>
            <p:cNvCxnSpPr>
              <a:cxnSpLocks noChangeShapeType="1"/>
              <a:endCxn id="40998" idx="1"/>
            </p:cNvCxnSpPr>
            <p:nvPr/>
          </p:nvCxnSpPr>
          <p:spPr bwMode="auto">
            <a:xfrm>
              <a:off x="4037" y="3498"/>
              <a:ext cx="171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4" name="AutoShape 74">
              <a:extLst>
                <a:ext uri="{FF2B5EF4-FFF2-40B4-BE49-F238E27FC236}">
                  <a16:creationId xmlns:a16="http://schemas.microsoft.com/office/drawing/2014/main" id="{511D8A9B-EF79-4D41-8013-D2686B60F038}"/>
                </a:ext>
              </a:extLst>
            </p:cNvPr>
            <p:cNvCxnSpPr>
              <a:cxnSpLocks noChangeShapeType="1"/>
              <a:stCxn id="40993" idx="7"/>
            </p:cNvCxnSpPr>
            <p:nvPr/>
          </p:nvCxnSpPr>
          <p:spPr bwMode="auto">
            <a:xfrm rot="16200000">
              <a:off x="4023" y="3294"/>
              <a:ext cx="127" cy="39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5" name="AutoShape 75">
              <a:extLst>
                <a:ext uri="{FF2B5EF4-FFF2-40B4-BE49-F238E27FC236}">
                  <a16:creationId xmlns:a16="http://schemas.microsoft.com/office/drawing/2014/main" id="{48EB3D92-2E05-49D4-A115-101F89192313}"/>
                </a:ext>
              </a:extLst>
            </p:cNvPr>
            <p:cNvCxnSpPr>
              <a:cxnSpLocks noChangeShapeType="1"/>
              <a:endCxn id="40996" idx="1"/>
            </p:cNvCxnSpPr>
            <p:nvPr/>
          </p:nvCxnSpPr>
          <p:spPr bwMode="auto">
            <a:xfrm>
              <a:off x="4286" y="3430"/>
              <a:ext cx="444" cy="12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6" name="AutoShape 76">
              <a:extLst>
                <a:ext uri="{FF2B5EF4-FFF2-40B4-BE49-F238E27FC236}">
                  <a16:creationId xmlns:a16="http://schemas.microsoft.com/office/drawing/2014/main" id="{929FC922-92EB-4ADC-86DA-4856BE85BBE2}"/>
                </a:ext>
              </a:extLst>
            </p:cNvPr>
            <p:cNvCxnSpPr>
              <a:cxnSpLocks noChangeShapeType="1"/>
              <a:stCxn id="40998" idx="5"/>
            </p:cNvCxnSpPr>
            <p:nvPr/>
          </p:nvCxnSpPr>
          <p:spPr bwMode="auto">
            <a:xfrm rot="16200000" flipH="1">
              <a:off x="4453" y="3666"/>
              <a:ext cx="59" cy="19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7" name="AutoShape 77">
              <a:extLst>
                <a:ext uri="{FF2B5EF4-FFF2-40B4-BE49-F238E27FC236}">
                  <a16:creationId xmlns:a16="http://schemas.microsoft.com/office/drawing/2014/main" id="{E066DE0D-BC24-45CA-A4EC-EC02AE934188}"/>
                </a:ext>
              </a:extLst>
            </p:cNvPr>
            <p:cNvCxnSpPr>
              <a:cxnSpLocks noChangeShapeType="1"/>
              <a:endCxn id="40996" idx="3"/>
            </p:cNvCxnSpPr>
            <p:nvPr/>
          </p:nvCxnSpPr>
          <p:spPr bwMode="auto">
            <a:xfrm flipV="1">
              <a:off x="4581" y="3734"/>
              <a:ext cx="149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87" grpId="0"/>
      <p:bldP spid="409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13A2F960-6231-4499-BEBA-496848F86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5"/>
            <a:ext cx="7456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Топологическая сортировка вершин ориентированного графа без циклов.</a:t>
            </a:r>
          </a:p>
        </p:txBody>
      </p:sp>
      <p:sp>
        <p:nvSpPr>
          <p:cNvPr id="52229" name="Oval 5">
            <a:extLst>
              <a:ext uri="{FF2B5EF4-FFF2-40B4-BE49-F238E27FC236}">
                <a16:creationId xmlns:a16="http://schemas.microsoft.com/office/drawing/2014/main" id="{959D58AF-F71D-415E-94B5-B57AF3218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01600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sp>
        <p:nvSpPr>
          <p:cNvPr id="52230" name="Oval 6">
            <a:extLst>
              <a:ext uri="{FF2B5EF4-FFF2-40B4-BE49-F238E27FC236}">
                <a16:creationId xmlns:a16="http://schemas.microsoft.com/office/drawing/2014/main" id="{97B92ABD-2107-46DF-9C61-2BBA4FDD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5</a:t>
            </a:r>
          </a:p>
        </p:txBody>
      </p:sp>
      <p:sp>
        <p:nvSpPr>
          <p:cNvPr id="52231" name="Oval 7">
            <a:extLst>
              <a:ext uri="{FF2B5EF4-FFF2-40B4-BE49-F238E27FC236}">
                <a16:creationId xmlns:a16="http://schemas.microsoft.com/office/drawing/2014/main" id="{19BA88AA-5D65-4745-8B4E-F4571E1C8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288925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9</a:t>
            </a:r>
          </a:p>
        </p:txBody>
      </p:sp>
      <p:sp>
        <p:nvSpPr>
          <p:cNvPr id="52232" name="Oval 8">
            <a:extLst>
              <a:ext uri="{FF2B5EF4-FFF2-40B4-BE49-F238E27FC236}">
                <a16:creationId xmlns:a16="http://schemas.microsoft.com/office/drawing/2014/main" id="{B13512CA-30F1-42F1-9C3B-2F275A011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14128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52233" name="Oval 9">
            <a:extLst>
              <a:ext uri="{FF2B5EF4-FFF2-40B4-BE49-F238E27FC236}">
                <a16:creationId xmlns:a16="http://schemas.microsoft.com/office/drawing/2014/main" id="{FF505DE0-E678-4BA7-8808-4457E0FF4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23860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7</a:t>
            </a:r>
          </a:p>
        </p:txBody>
      </p:sp>
      <p:sp>
        <p:nvSpPr>
          <p:cNvPr id="52234" name="Oval 10">
            <a:extLst>
              <a:ext uri="{FF2B5EF4-FFF2-40B4-BE49-F238E27FC236}">
                <a16:creationId xmlns:a16="http://schemas.microsoft.com/office/drawing/2014/main" id="{1B977B42-2230-4386-BCEA-FB7312EB0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1412875"/>
            <a:ext cx="395288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52235" name="Oval 11">
            <a:extLst>
              <a:ext uri="{FF2B5EF4-FFF2-40B4-BE49-F238E27FC236}">
                <a16:creationId xmlns:a16="http://schemas.microsoft.com/office/drawing/2014/main" id="{7BCC1AD5-5E08-4D83-B26F-A18D36B6A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386014"/>
            <a:ext cx="395288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8</a:t>
            </a:r>
          </a:p>
        </p:txBody>
      </p:sp>
      <p:sp>
        <p:nvSpPr>
          <p:cNvPr id="52236" name="Oval 12">
            <a:extLst>
              <a:ext uri="{FF2B5EF4-FFF2-40B4-BE49-F238E27FC236}">
                <a16:creationId xmlns:a16="http://schemas.microsoft.com/office/drawing/2014/main" id="{552DD18E-1FFD-4B4D-811E-BE39A7772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52237" name="Oval 13">
            <a:extLst>
              <a:ext uri="{FF2B5EF4-FFF2-40B4-BE49-F238E27FC236}">
                <a16:creationId xmlns:a16="http://schemas.microsoft.com/office/drawing/2014/main" id="{E3ED1A3C-4679-4E45-A688-F1E446A52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64" y="18446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6</a:t>
            </a:r>
          </a:p>
        </p:txBody>
      </p:sp>
      <p:cxnSp>
        <p:nvCxnSpPr>
          <p:cNvPr id="52238" name="AutoShape 14">
            <a:extLst>
              <a:ext uri="{FF2B5EF4-FFF2-40B4-BE49-F238E27FC236}">
                <a16:creationId xmlns:a16="http://schemas.microsoft.com/office/drawing/2014/main" id="{26EAE1D3-C448-4D3E-8922-EE238E3E1485}"/>
              </a:ext>
            </a:extLst>
          </p:cNvPr>
          <p:cNvCxnSpPr>
            <a:cxnSpLocks noChangeShapeType="1"/>
            <a:stCxn id="52236" idx="7"/>
            <a:endCxn id="52232" idx="2"/>
          </p:cNvCxnSpPr>
          <p:nvPr/>
        </p:nvCxnSpPr>
        <p:spPr bwMode="auto">
          <a:xfrm flipV="1">
            <a:off x="3409951" y="1611313"/>
            <a:ext cx="9572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39" name="AutoShape 15">
            <a:extLst>
              <a:ext uri="{FF2B5EF4-FFF2-40B4-BE49-F238E27FC236}">
                <a16:creationId xmlns:a16="http://schemas.microsoft.com/office/drawing/2014/main" id="{16DB5BCF-86C5-4B52-BA9D-E896AC55D46B}"/>
              </a:ext>
            </a:extLst>
          </p:cNvPr>
          <p:cNvCxnSpPr>
            <a:cxnSpLocks noChangeShapeType="1"/>
            <a:stCxn id="52236" idx="5"/>
            <a:endCxn id="52233" idx="2"/>
          </p:cNvCxnSpPr>
          <p:nvPr/>
        </p:nvCxnSpPr>
        <p:spPr bwMode="auto">
          <a:xfrm>
            <a:off x="3409951" y="2254250"/>
            <a:ext cx="9572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0" name="AutoShape 16">
            <a:extLst>
              <a:ext uri="{FF2B5EF4-FFF2-40B4-BE49-F238E27FC236}">
                <a16:creationId xmlns:a16="http://schemas.microsoft.com/office/drawing/2014/main" id="{B27ECA02-0C4C-48E6-8996-A3982F941225}"/>
              </a:ext>
            </a:extLst>
          </p:cNvPr>
          <p:cNvCxnSpPr>
            <a:cxnSpLocks noChangeShapeType="1"/>
            <a:stCxn id="52232" idx="4"/>
            <a:endCxn id="52233" idx="0"/>
          </p:cNvCxnSpPr>
          <p:nvPr/>
        </p:nvCxnSpPr>
        <p:spPr bwMode="auto">
          <a:xfrm>
            <a:off x="4565650" y="1808163"/>
            <a:ext cx="0" cy="577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1" name="AutoShape 17">
            <a:extLst>
              <a:ext uri="{FF2B5EF4-FFF2-40B4-BE49-F238E27FC236}">
                <a16:creationId xmlns:a16="http://schemas.microsoft.com/office/drawing/2014/main" id="{B1809D2C-2895-49DD-B1EA-80E34F27022D}"/>
              </a:ext>
            </a:extLst>
          </p:cNvPr>
          <p:cNvCxnSpPr>
            <a:cxnSpLocks noChangeShapeType="1"/>
            <a:stCxn id="52232" idx="7"/>
            <a:endCxn id="52229" idx="2"/>
          </p:cNvCxnSpPr>
          <p:nvPr/>
        </p:nvCxnSpPr>
        <p:spPr bwMode="auto">
          <a:xfrm flipV="1">
            <a:off x="4705351" y="1214439"/>
            <a:ext cx="995363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2" name="AutoShape 18">
            <a:extLst>
              <a:ext uri="{FF2B5EF4-FFF2-40B4-BE49-F238E27FC236}">
                <a16:creationId xmlns:a16="http://schemas.microsoft.com/office/drawing/2014/main" id="{335F00FA-F842-454C-9366-6AB1E91689FE}"/>
              </a:ext>
            </a:extLst>
          </p:cNvPr>
          <p:cNvCxnSpPr>
            <a:cxnSpLocks noChangeShapeType="1"/>
            <a:stCxn id="52232" idx="6"/>
            <a:endCxn id="52230" idx="1"/>
          </p:cNvCxnSpPr>
          <p:nvPr/>
        </p:nvCxnSpPr>
        <p:spPr bwMode="auto">
          <a:xfrm>
            <a:off x="4762501" y="1611313"/>
            <a:ext cx="9953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3" name="AutoShape 19">
            <a:extLst>
              <a:ext uri="{FF2B5EF4-FFF2-40B4-BE49-F238E27FC236}">
                <a16:creationId xmlns:a16="http://schemas.microsoft.com/office/drawing/2014/main" id="{1BC3D063-ADA1-47EF-AD9F-1CF4F5A91178}"/>
              </a:ext>
            </a:extLst>
          </p:cNvPr>
          <p:cNvCxnSpPr>
            <a:cxnSpLocks noChangeShapeType="1"/>
            <a:stCxn id="52233" idx="6"/>
            <a:endCxn id="52230" idx="3"/>
          </p:cNvCxnSpPr>
          <p:nvPr/>
        </p:nvCxnSpPr>
        <p:spPr bwMode="auto">
          <a:xfrm flipV="1">
            <a:off x="4762501" y="2254250"/>
            <a:ext cx="9953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4" name="AutoShape 20">
            <a:extLst>
              <a:ext uri="{FF2B5EF4-FFF2-40B4-BE49-F238E27FC236}">
                <a16:creationId xmlns:a16="http://schemas.microsoft.com/office/drawing/2014/main" id="{7A7360BE-295E-4399-87E4-1B46819B4614}"/>
              </a:ext>
            </a:extLst>
          </p:cNvPr>
          <p:cNvCxnSpPr>
            <a:cxnSpLocks noChangeShapeType="1"/>
            <a:stCxn id="52233" idx="5"/>
            <a:endCxn id="52231" idx="2"/>
          </p:cNvCxnSpPr>
          <p:nvPr/>
        </p:nvCxnSpPr>
        <p:spPr bwMode="auto">
          <a:xfrm>
            <a:off x="4705351" y="2724150"/>
            <a:ext cx="995363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5" name="AutoShape 21">
            <a:extLst>
              <a:ext uri="{FF2B5EF4-FFF2-40B4-BE49-F238E27FC236}">
                <a16:creationId xmlns:a16="http://schemas.microsoft.com/office/drawing/2014/main" id="{7CFCA28D-90AC-4561-B4CA-65011718AAE7}"/>
              </a:ext>
            </a:extLst>
          </p:cNvPr>
          <p:cNvCxnSpPr>
            <a:cxnSpLocks noChangeShapeType="1"/>
            <a:stCxn id="52231" idx="0"/>
            <a:endCxn id="52230" idx="4"/>
          </p:cNvCxnSpPr>
          <p:nvPr/>
        </p:nvCxnSpPr>
        <p:spPr bwMode="auto">
          <a:xfrm flipV="1">
            <a:off x="5899150" y="2311400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6" name="AutoShape 22">
            <a:extLst>
              <a:ext uri="{FF2B5EF4-FFF2-40B4-BE49-F238E27FC236}">
                <a16:creationId xmlns:a16="http://schemas.microsoft.com/office/drawing/2014/main" id="{04FD46D3-923C-40D3-B155-6229DBD5DC40}"/>
              </a:ext>
            </a:extLst>
          </p:cNvPr>
          <p:cNvCxnSpPr>
            <a:cxnSpLocks noChangeShapeType="1"/>
            <a:stCxn id="52229" idx="6"/>
            <a:endCxn id="52234" idx="1"/>
          </p:cNvCxnSpPr>
          <p:nvPr/>
        </p:nvCxnSpPr>
        <p:spPr bwMode="auto">
          <a:xfrm>
            <a:off x="6096000" y="1214439"/>
            <a:ext cx="920750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7" name="AutoShape 23">
            <a:extLst>
              <a:ext uri="{FF2B5EF4-FFF2-40B4-BE49-F238E27FC236}">
                <a16:creationId xmlns:a16="http://schemas.microsoft.com/office/drawing/2014/main" id="{B51D02CE-F773-4273-845A-E35B71141A6D}"/>
              </a:ext>
            </a:extLst>
          </p:cNvPr>
          <p:cNvCxnSpPr>
            <a:cxnSpLocks noChangeShapeType="1"/>
            <a:stCxn id="52230" idx="6"/>
            <a:endCxn id="52234" idx="3"/>
          </p:cNvCxnSpPr>
          <p:nvPr/>
        </p:nvCxnSpPr>
        <p:spPr bwMode="auto">
          <a:xfrm flipV="1">
            <a:off x="6096000" y="1751014"/>
            <a:ext cx="920750" cy="3635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8" name="AutoShape 24">
            <a:extLst>
              <a:ext uri="{FF2B5EF4-FFF2-40B4-BE49-F238E27FC236}">
                <a16:creationId xmlns:a16="http://schemas.microsoft.com/office/drawing/2014/main" id="{E5B2E8C1-4497-4DFB-90B4-9370DFEB9070}"/>
              </a:ext>
            </a:extLst>
          </p:cNvPr>
          <p:cNvCxnSpPr>
            <a:cxnSpLocks noChangeShapeType="1"/>
            <a:stCxn id="52231" idx="6"/>
            <a:endCxn id="52235" idx="3"/>
          </p:cNvCxnSpPr>
          <p:nvPr/>
        </p:nvCxnSpPr>
        <p:spPr bwMode="auto">
          <a:xfrm flipV="1">
            <a:off x="6096000" y="2724150"/>
            <a:ext cx="920750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9" name="AutoShape 25">
            <a:extLst>
              <a:ext uri="{FF2B5EF4-FFF2-40B4-BE49-F238E27FC236}">
                <a16:creationId xmlns:a16="http://schemas.microsoft.com/office/drawing/2014/main" id="{DC35E0DB-59E9-4308-9281-221D436C7324}"/>
              </a:ext>
            </a:extLst>
          </p:cNvPr>
          <p:cNvCxnSpPr>
            <a:cxnSpLocks noChangeShapeType="1"/>
            <a:stCxn id="52234" idx="4"/>
            <a:endCxn id="52235" idx="0"/>
          </p:cNvCxnSpPr>
          <p:nvPr/>
        </p:nvCxnSpPr>
        <p:spPr bwMode="auto">
          <a:xfrm>
            <a:off x="7158038" y="1808163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0" name="AutoShape 26">
            <a:extLst>
              <a:ext uri="{FF2B5EF4-FFF2-40B4-BE49-F238E27FC236}">
                <a16:creationId xmlns:a16="http://schemas.microsoft.com/office/drawing/2014/main" id="{530ED4EF-4EE3-449E-9CB9-5D278EBF6DA8}"/>
              </a:ext>
            </a:extLst>
          </p:cNvPr>
          <p:cNvCxnSpPr>
            <a:cxnSpLocks noChangeShapeType="1"/>
            <a:stCxn id="52234" idx="6"/>
            <a:endCxn id="52237" idx="1"/>
          </p:cNvCxnSpPr>
          <p:nvPr/>
        </p:nvCxnSpPr>
        <p:spPr bwMode="auto">
          <a:xfrm>
            <a:off x="7354889" y="1611313"/>
            <a:ext cx="885825" cy="2905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1" name="AutoShape 27">
            <a:extLst>
              <a:ext uri="{FF2B5EF4-FFF2-40B4-BE49-F238E27FC236}">
                <a16:creationId xmlns:a16="http://schemas.microsoft.com/office/drawing/2014/main" id="{9250CF74-A1E1-4EFA-ABD7-189BFD5FF441}"/>
              </a:ext>
            </a:extLst>
          </p:cNvPr>
          <p:cNvCxnSpPr>
            <a:cxnSpLocks noChangeShapeType="1"/>
            <a:stCxn id="52235" idx="6"/>
            <a:endCxn id="52237" idx="3"/>
          </p:cNvCxnSpPr>
          <p:nvPr/>
        </p:nvCxnSpPr>
        <p:spPr bwMode="auto">
          <a:xfrm flipV="1">
            <a:off x="7354889" y="2182814"/>
            <a:ext cx="885825" cy="401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302" name="Text Box 78">
            <a:extLst>
              <a:ext uri="{FF2B5EF4-FFF2-40B4-BE49-F238E27FC236}">
                <a16:creationId xmlns:a16="http://schemas.microsoft.com/office/drawing/2014/main" id="{2A59170D-3884-4F18-9765-9B803389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3392488"/>
            <a:ext cx="385246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«Наивный» алгоритм нумерации вершин:</a:t>
            </a:r>
          </a:p>
        </p:txBody>
      </p:sp>
      <p:sp>
        <p:nvSpPr>
          <p:cNvPr id="52303" name="Text Box 79">
            <a:extLst>
              <a:ext uri="{FF2B5EF4-FFF2-40B4-BE49-F238E27FC236}">
                <a16:creationId xmlns:a16="http://schemas.microsoft.com/office/drawing/2014/main" id="{36918DCC-8956-4BC4-B8F0-CA288FAEE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3743325"/>
            <a:ext cx="6419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ru-RU" altLang="ru-RU" sz="1400"/>
              <a:t>Находим какую-либо вершину, в которую не входят дуги, нумеруем ее.</a:t>
            </a:r>
          </a:p>
        </p:txBody>
      </p:sp>
      <p:sp>
        <p:nvSpPr>
          <p:cNvPr id="52304" name="Rectangle 80">
            <a:extLst>
              <a:ext uri="{FF2B5EF4-FFF2-40B4-BE49-F238E27FC236}">
                <a16:creationId xmlns:a16="http://schemas.microsoft.com/office/drawing/2014/main" id="{EBFC4127-71A4-445A-A1F9-75FD4D21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170021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1</a:t>
            </a:r>
          </a:p>
        </p:txBody>
      </p:sp>
      <p:sp>
        <p:nvSpPr>
          <p:cNvPr id="52305" name="Text Box 81">
            <a:extLst>
              <a:ext uri="{FF2B5EF4-FFF2-40B4-BE49-F238E27FC236}">
                <a16:creationId xmlns:a16="http://schemas.microsoft.com/office/drawing/2014/main" id="{FCA35EF1-348E-4F9E-A1E7-E4536A8FC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4032250"/>
            <a:ext cx="7086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ru-RU" altLang="ru-RU" sz="1400"/>
              <a:t>Помечаем дуги, выходящие из помеченной вершины, как «не существующие».</a:t>
            </a:r>
          </a:p>
        </p:txBody>
      </p:sp>
      <p:sp>
        <p:nvSpPr>
          <p:cNvPr id="52306" name="Text Box 82">
            <a:extLst>
              <a:ext uri="{FF2B5EF4-FFF2-40B4-BE49-F238E27FC236}">
                <a16:creationId xmlns:a16="http://schemas.microsoft.com/office/drawing/2014/main" id="{5D544DC0-98E6-4FE4-B391-E2AAFD24F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4319588"/>
            <a:ext cx="6254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ru-RU" altLang="ru-RU" sz="1400"/>
              <a:t>Повторяем шаги (1) и (2), пока не будут занумерованы все вершины.</a:t>
            </a:r>
          </a:p>
        </p:txBody>
      </p:sp>
      <p:sp>
        <p:nvSpPr>
          <p:cNvPr id="52307" name="Rectangle 83">
            <a:extLst>
              <a:ext uri="{FF2B5EF4-FFF2-40B4-BE49-F238E27FC236}">
                <a16:creationId xmlns:a16="http://schemas.microsoft.com/office/drawing/2014/main" id="{936B3465-D8EB-4508-B351-665E95F07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123348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2</a:t>
            </a:r>
          </a:p>
        </p:txBody>
      </p:sp>
      <p:sp>
        <p:nvSpPr>
          <p:cNvPr id="52308" name="Rectangle 84">
            <a:extLst>
              <a:ext uri="{FF2B5EF4-FFF2-40B4-BE49-F238E27FC236}">
                <a16:creationId xmlns:a16="http://schemas.microsoft.com/office/drawing/2014/main" id="{A454BCB6-A5C7-4E28-B997-A5D817549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83661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3</a:t>
            </a:r>
          </a:p>
        </p:txBody>
      </p:sp>
      <p:sp>
        <p:nvSpPr>
          <p:cNvPr id="52309" name="Rectangle 85">
            <a:extLst>
              <a:ext uri="{FF2B5EF4-FFF2-40B4-BE49-F238E27FC236}">
                <a16:creationId xmlns:a16="http://schemas.microsoft.com/office/drawing/2014/main" id="{B56988C2-9869-47FC-A088-059919780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220503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4</a:t>
            </a:r>
          </a:p>
        </p:txBody>
      </p:sp>
      <p:sp>
        <p:nvSpPr>
          <p:cNvPr id="52310" name="Rectangle 86">
            <a:extLst>
              <a:ext uri="{FF2B5EF4-FFF2-40B4-BE49-F238E27FC236}">
                <a16:creationId xmlns:a16="http://schemas.microsoft.com/office/drawing/2014/main" id="{7DFE1C18-A491-4880-AB32-64575937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270827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5</a:t>
            </a:r>
          </a:p>
        </p:txBody>
      </p:sp>
      <p:sp>
        <p:nvSpPr>
          <p:cNvPr id="52311" name="Rectangle 87">
            <a:extLst>
              <a:ext uri="{FF2B5EF4-FFF2-40B4-BE49-F238E27FC236}">
                <a16:creationId xmlns:a16="http://schemas.microsoft.com/office/drawing/2014/main" id="{F9D4E6A5-DD92-4FB1-BA30-7C1CC8E2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166528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6</a:t>
            </a:r>
          </a:p>
        </p:txBody>
      </p:sp>
      <p:sp>
        <p:nvSpPr>
          <p:cNvPr id="52312" name="Rectangle 88">
            <a:extLst>
              <a:ext uri="{FF2B5EF4-FFF2-40B4-BE49-F238E27FC236}">
                <a16:creationId xmlns:a16="http://schemas.microsoft.com/office/drawing/2014/main" id="{D6863ECE-2F3B-4044-88C3-6CF707E27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11604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7</a:t>
            </a:r>
          </a:p>
        </p:txBody>
      </p:sp>
      <p:sp>
        <p:nvSpPr>
          <p:cNvPr id="52313" name="Rectangle 89">
            <a:extLst>
              <a:ext uri="{FF2B5EF4-FFF2-40B4-BE49-F238E27FC236}">
                <a16:creationId xmlns:a16="http://schemas.microsoft.com/office/drawing/2014/main" id="{DE745073-94F7-48D5-BC47-F622E5EB9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216852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8</a:t>
            </a:r>
          </a:p>
        </p:txBody>
      </p:sp>
      <p:sp>
        <p:nvSpPr>
          <p:cNvPr id="52314" name="Rectangle 90">
            <a:extLst>
              <a:ext uri="{FF2B5EF4-FFF2-40B4-BE49-F238E27FC236}">
                <a16:creationId xmlns:a16="http://schemas.microsoft.com/office/drawing/2014/main" id="{8C859005-386A-4A12-934E-B2F9E601B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15922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9</a:t>
            </a:r>
          </a:p>
        </p:txBody>
      </p:sp>
      <p:sp>
        <p:nvSpPr>
          <p:cNvPr id="52315" name="Text Box 91">
            <a:extLst>
              <a:ext uri="{FF2B5EF4-FFF2-40B4-BE49-F238E27FC236}">
                <a16:creationId xmlns:a16="http://schemas.microsoft.com/office/drawing/2014/main" id="{52F04F84-7A8A-4D48-A2F9-11F330186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4651375"/>
            <a:ext cx="33411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Оценка времени работы алгоритма.</a:t>
            </a:r>
          </a:p>
        </p:txBody>
      </p:sp>
      <p:sp>
        <p:nvSpPr>
          <p:cNvPr id="52316" name="Text Box 92">
            <a:extLst>
              <a:ext uri="{FF2B5EF4-FFF2-40B4-BE49-F238E27FC236}">
                <a16:creationId xmlns:a16="http://schemas.microsoft.com/office/drawing/2014/main" id="{775E2C0D-1995-4613-B9E6-20AB752AC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4" y="5002213"/>
            <a:ext cx="5083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ru-RU" altLang="ru-RU" sz="1400"/>
              <a:t>Построение очереди с приоритетами из вершин графа</a:t>
            </a:r>
          </a:p>
        </p:txBody>
      </p:sp>
      <p:sp>
        <p:nvSpPr>
          <p:cNvPr id="52317" name="Text Box 93">
            <a:extLst>
              <a:ext uri="{FF2B5EF4-FFF2-40B4-BE49-F238E27FC236}">
                <a16:creationId xmlns:a16="http://schemas.microsoft.com/office/drawing/2014/main" id="{EF43C7B7-BBAC-443B-9F27-0ED001B97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3" y="4987925"/>
            <a:ext cx="715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1400"/>
              <a:t>n log n</a:t>
            </a:r>
            <a:endParaRPr lang="ru-RU" altLang="ru-RU" sz="1400"/>
          </a:p>
        </p:txBody>
      </p:sp>
      <p:sp>
        <p:nvSpPr>
          <p:cNvPr id="52318" name="Text Box 94">
            <a:extLst>
              <a:ext uri="{FF2B5EF4-FFF2-40B4-BE49-F238E27FC236}">
                <a16:creationId xmlns:a16="http://schemas.microsoft.com/office/drawing/2014/main" id="{EB1E3AA6-42B5-4EAA-AB6C-87823276D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6" y="5256213"/>
            <a:ext cx="2900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ru-RU" altLang="ru-RU" sz="1400"/>
              <a:t>Выборка вершин из очереди</a:t>
            </a:r>
          </a:p>
        </p:txBody>
      </p:sp>
      <p:sp>
        <p:nvSpPr>
          <p:cNvPr id="52319" name="Text Box 95">
            <a:extLst>
              <a:ext uri="{FF2B5EF4-FFF2-40B4-BE49-F238E27FC236}">
                <a16:creationId xmlns:a16="http://schemas.microsoft.com/office/drawing/2014/main" id="{35B14CE6-BEEC-44D1-975F-3E3509D67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6" y="5241925"/>
            <a:ext cx="7159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1400"/>
              <a:t>n </a:t>
            </a:r>
            <a:r>
              <a:rPr lang="ru-RU" altLang="ru-RU" sz="1400"/>
              <a:t>log n</a:t>
            </a:r>
          </a:p>
        </p:txBody>
      </p:sp>
      <p:sp>
        <p:nvSpPr>
          <p:cNvPr id="52320" name="Text Box 96">
            <a:extLst>
              <a:ext uri="{FF2B5EF4-FFF2-40B4-BE49-F238E27FC236}">
                <a16:creationId xmlns:a16="http://schemas.microsoft.com/office/drawing/2014/main" id="{F90EE5C8-92E7-4462-B001-AC58D124A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5508625"/>
            <a:ext cx="351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ru-RU" altLang="ru-RU" sz="1400"/>
              <a:t>Коррекция очереди при пометке дуг</a:t>
            </a:r>
          </a:p>
        </p:txBody>
      </p:sp>
      <p:sp>
        <p:nvSpPr>
          <p:cNvPr id="52321" name="Text Box 97">
            <a:extLst>
              <a:ext uri="{FF2B5EF4-FFF2-40B4-BE49-F238E27FC236}">
                <a16:creationId xmlns:a16="http://schemas.microsoft.com/office/drawing/2014/main" id="{A4DA447B-ADE3-4148-9620-615FC3CB4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014" y="5494338"/>
            <a:ext cx="765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1400"/>
              <a:t>m log n</a:t>
            </a:r>
            <a:endParaRPr lang="ru-RU" altLang="ru-RU" sz="1400"/>
          </a:p>
        </p:txBody>
      </p:sp>
      <p:sp>
        <p:nvSpPr>
          <p:cNvPr id="52322" name="Text Box 98">
            <a:extLst>
              <a:ext uri="{FF2B5EF4-FFF2-40B4-BE49-F238E27FC236}">
                <a16:creationId xmlns:a16="http://schemas.microsoft.com/office/drawing/2014/main" id="{D0C9CC06-CC47-494B-9837-41492BD5F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113" y="5768975"/>
            <a:ext cx="2146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400"/>
              <a:t>Итого:         (</a:t>
            </a:r>
            <a:r>
              <a:rPr lang="en-US" altLang="ru-RU" sz="1400"/>
              <a:t>m</a:t>
            </a:r>
            <a:r>
              <a:rPr lang="ru-RU" altLang="ru-RU" sz="1400"/>
              <a:t>+</a:t>
            </a:r>
            <a:r>
              <a:rPr lang="en-US" altLang="ru-RU" sz="1400"/>
              <a:t>2n) log n</a:t>
            </a:r>
            <a:endParaRPr lang="ru-RU" altLang="ru-RU" sz="1400"/>
          </a:p>
        </p:txBody>
      </p:sp>
      <p:sp>
        <p:nvSpPr>
          <p:cNvPr id="52323" name="Text Box 99">
            <a:extLst>
              <a:ext uri="{FF2B5EF4-FFF2-40B4-BE49-F238E27FC236}">
                <a16:creationId xmlns:a16="http://schemas.microsoft.com/office/drawing/2014/main" id="{787BDB80-42AA-40BE-AB9F-F247920A4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5876925"/>
            <a:ext cx="28923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Проверка ацикличности графа.</a:t>
            </a:r>
          </a:p>
        </p:txBody>
      </p:sp>
      <p:sp>
        <p:nvSpPr>
          <p:cNvPr id="52324" name="Text Box 100">
            <a:extLst>
              <a:ext uri="{FF2B5EF4-FFF2-40B4-BE49-F238E27FC236}">
                <a16:creationId xmlns:a16="http://schemas.microsoft.com/office/drawing/2014/main" id="{D689002E-A35F-46F4-B99E-BB5AFEC5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6237288"/>
            <a:ext cx="7829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400"/>
              <a:t>Граф содержит цикл, если на шаге (1) не удается найти вершину, в которую не входят дуги.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10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3" dur="1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1" dur="10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1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10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20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4" dur="1000" fill="hold"/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2000" fill="hold"/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5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0" dur="10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20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5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2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2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2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2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2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2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2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5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5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02" grpId="0"/>
      <p:bldP spid="52303" grpId="0"/>
      <p:bldP spid="52304" grpId="0" animBg="1"/>
      <p:bldP spid="52305" grpId="0"/>
      <p:bldP spid="52306" grpId="0"/>
      <p:bldP spid="52307" grpId="0" animBg="1"/>
      <p:bldP spid="52308" grpId="0" animBg="1"/>
      <p:bldP spid="52309" grpId="0" animBg="1"/>
      <p:bldP spid="52310" grpId="0" animBg="1"/>
      <p:bldP spid="52311" grpId="0" animBg="1"/>
      <p:bldP spid="52312" grpId="0" animBg="1"/>
      <p:bldP spid="52313" grpId="0" animBg="1"/>
      <p:bldP spid="52314" grpId="0" animBg="1"/>
      <p:bldP spid="52315" grpId="0"/>
      <p:bldP spid="52316" grpId="0"/>
      <p:bldP spid="52317" grpId="0"/>
      <p:bldP spid="52318" grpId="0"/>
      <p:bldP spid="52319" grpId="0"/>
      <p:bldP spid="52320" grpId="0"/>
      <p:bldP spid="52321" grpId="0"/>
      <p:bldP spid="52322" grpId="0"/>
      <p:bldP spid="52323" grpId="0"/>
      <p:bldP spid="523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561E1A31-36A3-4107-8368-C3EB65A89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5"/>
            <a:ext cx="7456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Топологическая сортировка вершин ориентированного графа без циклов.</a:t>
            </a:r>
          </a:p>
        </p:txBody>
      </p:sp>
      <p:sp>
        <p:nvSpPr>
          <p:cNvPr id="53251" name="Oval 3">
            <a:extLst>
              <a:ext uri="{FF2B5EF4-FFF2-40B4-BE49-F238E27FC236}">
                <a16:creationId xmlns:a16="http://schemas.microsoft.com/office/drawing/2014/main" id="{AD227F3B-BFB9-494A-8C0A-9FC37C2F9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01600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sp>
        <p:nvSpPr>
          <p:cNvPr id="53252" name="Oval 4">
            <a:extLst>
              <a:ext uri="{FF2B5EF4-FFF2-40B4-BE49-F238E27FC236}">
                <a16:creationId xmlns:a16="http://schemas.microsoft.com/office/drawing/2014/main" id="{4FDF150F-C4F5-46C2-BE75-C4547B71D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5</a:t>
            </a:r>
          </a:p>
        </p:txBody>
      </p:sp>
      <p:sp>
        <p:nvSpPr>
          <p:cNvPr id="53253" name="Oval 5">
            <a:extLst>
              <a:ext uri="{FF2B5EF4-FFF2-40B4-BE49-F238E27FC236}">
                <a16:creationId xmlns:a16="http://schemas.microsoft.com/office/drawing/2014/main" id="{98B02157-8194-4F32-9096-21A2DD7BB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288925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9</a:t>
            </a:r>
          </a:p>
        </p:txBody>
      </p:sp>
      <p:sp>
        <p:nvSpPr>
          <p:cNvPr id="53254" name="Oval 6">
            <a:extLst>
              <a:ext uri="{FF2B5EF4-FFF2-40B4-BE49-F238E27FC236}">
                <a16:creationId xmlns:a16="http://schemas.microsoft.com/office/drawing/2014/main" id="{C0895E09-D298-4685-A4BE-528E2D1B1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14128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53255" name="Oval 7">
            <a:extLst>
              <a:ext uri="{FF2B5EF4-FFF2-40B4-BE49-F238E27FC236}">
                <a16:creationId xmlns:a16="http://schemas.microsoft.com/office/drawing/2014/main" id="{00DC68E0-8628-4BC7-AFFE-7C7CEB0B6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23860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7</a:t>
            </a:r>
          </a:p>
        </p:txBody>
      </p:sp>
      <p:sp>
        <p:nvSpPr>
          <p:cNvPr id="53256" name="Oval 8">
            <a:extLst>
              <a:ext uri="{FF2B5EF4-FFF2-40B4-BE49-F238E27FC236}">
                <a16:creationId xmlns:a16="http://schemas.microsoft.com/office/drawing/2014/main" id="{93FE777F-69C3-40E9-9007-3B86DE200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1412875"/>
            <a:ext cx="395288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53257" name="Oval 9">
            <a:extLst>
              <a:ext uri="{FF2B5EF4-FFF2-40B4-BE49-F238E27FC236}">
                <a16:creationId xmlns:a16="http://schemas.microsoft.com/office/drawing/2014/main" id="{2667F4BC-70CB-4FF9-8810-2AEE09B9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386014"/>
            <a:ext cx="395288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8</a:t>
            </a:r>
          </a:p>
        </p:txBody>
      </p:sp>
      <p:sp>
        <p:nvSpPr>
          <p:cNvPr id="53258" name="Oval 10">
            <a:extLst>
              <a:ext uri="{FF2B5EF4-FFF2-40B4-BE49-F238E27FC236}">
                <a16:creationId xmlns:a16="http://schemas.microsoft.com/office/drawing/2014/main" id="{06B0B574-6574-4DE5-8831-7458C6A80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53259" name="Oval 11">
            <a:extLst>
              <a:ext uri="{FF2B5EF4-FFF2-40B4-BE49-F238E27FC236}">
                <a16:creationId xmlns:a16="http://schemas.microsoft.com/office/drawing/2014/main" id="{5D1939A3-5FEB-4E68-BB06-5EEE1C10D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64" y="18446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6</a:t>
            </a:r>
          </a:p>
        </p:txBody>
      </p:sp>
      <p:cxnSp>
        <p:nvCxnSpPr>
          <p:cNvPr id="53260" name="AutoShape 12">
            <a:extLst>
              <a:ext uri="{FF2B5EF4-FFF2-40B4-BE49-F238E27FC236}">
                <a16:creationId xmlns:a16="http://schemas.microsoft.com/office/drawing/2014/main" id="{6D0F7D14-8CCE-48F6-8F05-876FDCECD7F1}"/>
              </a:ext>
            </a:extLst>
          </p:cNvPr>
          <p:cNvCxnSpPr>
            <a:cxnSpLocks noChangeShapeType="1"/>
            <a:stCxn id="53258" idx="7"/>
            <a:endCxn id="53254" idx="2"/>
          </p:cNvCxnSpPr>
          <p:nvPr/>
        </p:nvCxnSpPr>
        <p:spPr bwMode="auto">
          <a:xfrm flipV="1">
            <a:off x="3409951" y="1611313"/>
            <a:ext cx="9572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1" name="AutoShape 13">
            <a:extLst>
              <a:ext uri="{FF2B5EF4-FFF2-40B4-BE49-F238E27FC236}">
                <a16:creationId xmlns:a16="http://schemas.microsoft.com/office/drawing/2014/main" id="{374AA24B-CC8F-411E-B8ED-04C47D548AFD}"/>
              </a:ext>
            </a:extLst>
          </p:cNvPr>
          <p:cNvCxnSpPr>
            <a:cxnSpLocks noChangeShapeType="1"/>
            <a:stCxn id="53258" idx="5"/>
            <a:endCxn id="53255" idx="2"/>
          </p:cNvCxnSpPr>
          <p:nvPr/>
        </p:nvCxnSpPr>
        <p:spPr bwMode="auto">
          <a:xfrm>
            <a:off x="3409951" y="2254250"/>
            <a:ext cx="9572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2" name="AutoShape 14">
            <a:extLst>
              <a:ext uri="{FF2B5EF4-FFF2-40B4-BE49-F238E27FC236}">
                <a16:creationId xmlns:a16="http://schemas.microsoft.com/office/drawing/2014/main" id="{7A385AC5-0E2E-474A-9EB7-8791DA196870}"/>
              </a:ext>
            </a:extLst>
          </p:cNvPr>
          <p:cNvCxnSpPr>
            <a:cxnSpLocks noChangeShapeType="1"/>
            <a:stCxn id="53254" idx="4"/>
            <a:endCxn id="53255" idx="0"/>
          </p:cNvCxnSpPr>
          <p:nvPr/>
        </p:nvCxnSpPr>
        <p:spPr bwMode="auto">
          <a:xfrm>
            <a:off x="4565650" y="1808163"/>
            <a:ext cx="0" cy="577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3" name="AutoShape 15">
            <a:extLst>
              <a:ext uri="{FF2B5EF4-FFF2-40B4-BE49-F238E27FC236}">
                <a16:creationId xmlns:a16="http://schemas.microsoft.com/office/drawing/2014/main" id="{F38DE7E8-5E38-413B-8060-46EB4ED6CD12}"/>
              </a:ext>
            </a:extLst>
          </p:cNvPr>
          <p:cNvCxnSpPr>
            <a:cxnSpLocks noChangeShapeType="1"/>
            <a:stCxn id="53254" idx="7"/>
            <a:endCxn id="53251" idx="2"/>
          </p:cNvCxnSpPr>
          <p:nvPr/>
        </p:nvCxnSpPr>
        <p:spPr bwMode="auto">
          <a:xfrm flipV="1">
            <a:off x="4705351" y="1214439"/>
            <a:ext cx="995363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4" name="AutoShape 16">
            <a:extLst>
              <a:ext uri="{FF2B5EF4-FFF2-40B4-BE49-F238E27FC236}">
                <a16:creationId xmlns:a16="http://schemas.microsoft.com/office/drawing/2014/main" id="{C3FED1BC-F75C-43A5-86FA-9CB0FD210B4E}"/>
              </a:ext>
            </a:extLst>
          </p:cNvPr>
          <p:cNvCxnSpPr>
            <a:cxnSpLocks noChangeShapeType="1"/>
            <a:stCxn id="53254" idx="6"/>
            <a:endCxn id="53252" idx="1"/>
          </p:cNvCxnSpPr>
          <p:nvPr/>
        </p:nvCxnSpPr>
        <p:spPr bwMode="auto">
          <a:xfrm>
            <a:off x="4762501" y="1611313"/>
            <a:ext cx="9953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5" name="AutoShape 17">
            <a:extLst>
              <a:ext uri="{FF2B5EF4-FFF2-40B4-BE49-F238E27FC236}">
                <a16:creationId xmlns:a16="http://schemas.microsoft.com/office/drawing/2014/main" id="{CB0A1BA4-0F91-4EBE-B5BA-4682638CA9F6}"/>
              </a:ext>
            </a:extLst>
          </p:cNvPr>
          <p:cNvCxnSpPr>
            <a:cxnSpLocks noChangeShapeType="1"/>
            <a:stCxn id="53255" idx="6"/>
            <a:endCxn id="53252" idx="3"/>
          </p:cNvCxnSpPr>
          <p:nvPr/>
        </p:nvCxnSpPr>
        <p:spPr bwMode="auto">
          <a:xfrm flipV="1">
            <a:off x="4762501" y="2254250"/>
            <a:ext cx="9953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6" name="AutoShape 18">
            <a:extLst>
              <a:ext uri="{FF2B5EF4-FFF2-40B4-BE49-F238E27FC236}">
                <a16:creationId xmlns:a16="http://schemas.microsoft.com/office/drawing/2014/main" id="{8C962F5B-1F0E-49F6-AFF7-28D1C5671D59}"/>
              </a:ext>
            </a:extLst>
          </p:cNvPr>
          <p:cNvCxnSpPr>
            <a:cxnSpLocks noChangeShapeType="1"/>
            <a:stCxn id="53255" idx="5"/>
            <a:endCxn id="53253" idx="2"/>
          </p:cNvCxnSpPr>
          <p:nvPr/>
        </p:nvCxnSpPr>
        <p:spPr bwMode="auto">
          <a:xfrm>
            <a:off x="4705351" y="2724150"/>
            <a:ext cx="995363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7" name="AutoShape 19">
            <a:extLst>
              <a:ext uri="{FF2B5EF4-FFF2-40B4-BE49-F238E27FC236}">
                <a16:creationId xmlns:a16="http://schemas.microsoft.com/office/drawing/2014/main" id="{C3198BA2-02E8-47C4-83AC-6AB90BD7DBB1}"/>
              </a:ext>
            </a:extLst>
          </p:cNvPr>
          <p:cNvCxnSpPr>
            <a:cxnSpLocks noChangeShapeType="1"/>
            <a:stCxn id="53253" idx="0"/>
            <a:endCxn id="53252" idx="4"/>
          </p:cNvCxnSpPr>
          <p:nvPr/>
        </p:nvCxnSpPr>
        <p:spPr bwMode="auto">
          <a:xfrm flipV="1">
            <a:off x="5899150" y="2311400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8" name="AutoShape 20">
            <a:extLst>
              <a:ext uri="{FF2B5EF4-FFF2-40B4-BE49-F238E27FC236}">
                <a16:creationId xmlns:a16="http://schemas.microsoft.com/office/drawing/2014/main" id="{102035B7-1C2E-418B-A780-A9CA49327511}"/>
              </a:ext>
            </a:extLst>
          </p:cNvPr>
          <p:cNvCxnSpPr>
            <a:cxnSpLocks noChangeShapeType="1"/>
            <a:stCxn id="53251" idx="6"/>
            <a:endCxn id="53256" idx="1"/>
          </p:cNvCxnSpPr>
          <p:nvPr/>
        </p:nvCxnSpPr>
        <p:spPr bwMode="auto">
          <a:xfrm>
            <a:off x="6096000" y="1214439"/>
            <a:ext cx="920750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9" name="AutoShape 21">
            <a:extLst>
              <a:ext uri="{FF2B5EF4-FFF2-40B4-BE49-F238E27FC236}">
                <a16:creationId xmlns:a16="http://schemas.microsoft.com/office/drawing/2014/main" id="{7968E9C9-DA25-4C7C-A652-B64333391F8B}"/>
              </a:ext>
            </a:extLst>
          </p:cNvPr>
          <p:cNvCxnSpPr>
            <a:cxnSpLocks noChangeShapeType="1"/>
            <a:stCxn id="53252" idx="6"/>
            <a:endCxn id="53256" idx="3"/>
          </p:cNvCxnSpPr>
          <p:nvPr/>
        </p:nvCxnSpPr>
        <p:spPr bwMode="auto">
          <a:xfrm flipV="1">
            <a:off x="6096000" y="1751014"/>
            <a:ext cx="920750" cy="3635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0" name="AutoShape 22">
            <a:extLst>
              <a:ext uri="{FF2B5EF4-FFF2-40B4-BE49-F238E27FC236}">
                <a16:creationId xmlns:a16="http://schemas.microsoft.com/office/drawing/2014/main" id="{2F4DE3BE-7FC6-4A27-B387-4972C296066C}"/>
              </a:ext>
            </a:extLst>
          </p:cNvPr>
          <p:cNvCxnSpPr>
            <a:cxnSpLocks noChangeShapeType="1"/>
            <a:stCxn id="53253" idx="6"/>
            <a:endCxn id="53257" idx="3"/>
          </p:cNvCxnSpPr>
          <p:nvPr/>
        </p:nvCxnSpPr>
        <p:spPr bwMode="auto">
          <a:xfrm flipV="1">
            <a:off x="6096000" y="2724150"/>
            <a:ext cx="920750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1" name="AutoShape 23">
            <a:extLst>
              <a:ext uri="{FF2B5EF4-FFF2-40B4-BE49-F238E27FC236}">
                <a16:creationId xmlns:a16="http://schemas.microsoft.com/office/drawing/2014/main" id="{75933BB3-0D95-4FEC-86EF-4308F0431597}"/>
              </a:ext>
            </a:extLst>
          </p:cNvPr>
          <p:cNvCxnSpPr>
            <a:cxnSpLocks noChangeShapeType="1"/>
            <a:stCxn id="53256" idx="4"/>
            <a:endCxn id="53257" idx="0"/>
          </p:cNvCxnSpPr>
          <p:nvPr/>
        </p:nvCxnSpPr>
        <p:spPr bwMode="auto">
          <a:xfrm>
            <a:off x="7158038" y="1808163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2" name="AutoShape 24">
            <a:extLst>
              <a:ext uri="{FF2B5EF4-FFF2-40B4-BE49-F238E27FC236}">
                <a16:creationId xmlns:a16="http://schemas.microsoft.com/office/drawing/2014/main" id="{5ED73293-4E0B-4D3C-ABDA-5B6764A8B6A9}"/>
              </a:ext>
            </a:extLst>
          </p:cNvPr>
          <p:cNvCxnSpPr>
            <a:cxnSpLocks noChangeShapeType="1"/>
            <a:stCxn id="53256" idx="6"/>
            <a:endCxn id="53259" idx="1"/>
          </p:cNvCxnSpPr>
          <p:nvPr/>
        </p:nvCxnSpPr>
        <p:spPr bwMode="auto">
          <a:xfrm>
            <a:off x="7354889" y="1611313"/>
            <a:ext cx="885825" cy="2905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3" name="AutoShape 25">
            <a:extLst>
              <a:ext uri="{FF2B5EF4-FFF2-40B4-BE49-F238E27FC236}">
                <a16:creationId xmlns:a16="http://schemas.microsoft.com/office/drawing/2014/main" id="{76400139-3F8D-45E4-A5E4-7CE566009407}"/>
              </a:ext>
            </a:extLst>
          </p:cNvPr>
          <p:cNvCxnSpPr>
            <a:cxnSpLocks noChangeShapeType="1"/>
            <a:stCxn id="53257" idx="6"/>
            <a:endCxn id="53259" idx="3"/>
          </p:cNvCxnSpPr>
          <p:nvPr/>
        </p:nvCxnSpPr>
        <p:spPr bwMode="auto">
          <a:xfrm flipV="1">
            <a:off x="7354889" y="2182814"/>
            <a:ext cx="885825" cy="401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74" name="Text Box 26">
            <a:extLst>
              <a:ext uri="{FF2B5EF4-FFF2-40B4-BE49-F238E27FC236}">
                <a16:creationId xmlns:a16="http://schemas.microsoft.com/office/drawing/2014/main" id="{4C4A3CDE-0F79-4FA2-BE3F-E13B18AA2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3689350"/>
            <a:ext cx="42724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«Эффективный» алгоритм нумерации вершин:</a:t>
            </a:r>
          </a:p>
        </p:txBody>
      </p:sp>
      <p:sp>
        <p:nvSpPr>
          <p:cNvPr id="53295" name="Text Box 47">
            <a:extLst>
              <a:ext uri="{FF2B5EF4-FFF2-40B4-BE49-F238E27FC236}">
                <a16:creationId xmlns:a16="http://schemas.microsoft.com/office/drawing/2014/main" id="{8ADBD24F-F0B1-4F5F-B39C-01A2C4D3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4076700"/>
            <a:ext cx="71223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ru-RU" altLang="ru-RU" sz="1400"/>
              <a:t>Производим обход графа с помощью рекурсивной процедуры обхода, начиная</a:t>
            </a:r>
            <a:br>
              <a:rPr lang="ru-RU" altLang="ru-RU" sz="1400"/>
            </a:br>
            <a:r>
              <a:rPr lang="ru-RU" altLang="ru-RU" sz="1400"/>
              <a:t>с произвольной вершины.</a:t>
            </a:r>
          </a:p>
        </p:txBody>
      </p:sp>
      <p:sp>
        <p:nvSpPr>
          <p:cNvPr id="53296" name="Text Box 48">
            <a:extLst>
              <a:ext uri="{FF2B5EF4-FFF2-40B4-BE49-F238E27FC236}">
                <a16:creationId xmlns:a16="http://schemas.microsoft.com/office/drawing/2014/main" id="{2ECEA59C-C4A2-4EA1-ACFD-EB6BC7C0F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4545013"/>
            <a:ext cx="7633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ru-RU" altLang="ru-RU" sz="1400"/>
              <a:t>Нумеруем каждую вершину при «прохождении ее назад» максимальным из номеров</a:t>
            </a:r>
            <a:br>
              <a:rPr lang="ru-RU" altLang="ru-RU" sz="1400"/>
            </a:br>
            <a:r>
              <a:rPr lang="ru-RU" altLang="ru-RU" sz="1400"/>
              <a:t>(то есть нумерация происходит в порядке убывания номеров).</a:t>
            </a:r>
          </a:p>
        </p:txBody>
      </p:sp>
      <p:sp>
        <p:nvSpPr>
          <p:cNvPr id="53297" name="Text Box 49">
            <a:extLst>
              <a:ext uri="{FF2B5EF4-FFF2-40B4-BE49-F238E27FC236}">
                <a16:creationId xmlns:a16="http://schemas.microsoft.com/office/drawing/2014/main" id="{450C0D54-D403-4E1F-A334-4FF8B9AF7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5013325"/>
            <a:ext cx="6162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ru-RU" altLang="ru-RU" sz="1400"/>
              <a:t>Повторяем шаги (1) и (2), пока не останется непройденных вершин.</a:t>
            </a:r>
          </a:p>
        </p:txBody>
      </p:sp>
      <p:sp>
        <p:nvSpPr>
          <p:cNvPr id="53298" name="Rectangle 50">
            <a:extLst>
              <a:ext uri="{FF2B5EF4-FFF2-40B4-BE49-F238E27FC236}">
                <a16:creationId xmlns:a16="http://schemas.microsoft.com/office/drawing/2014/main" id="{75EE7A74-563D-43E7-9DD9-0387DBB5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15922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9</a:t>
            </a:r>
          </a:p>
        </p:txBody>
      </p:sp>
      <p:sp>
        <p:nvSpPr>
          <p:cNvPr id="53299" name="Rectangle 51">
            <a:extLst>
              <a:ext uri="{FF2B5EF4-FFF2-40B4-BE49-F238E27FC236}">
                <a16:creationId xmlns:a16="http://schemas.microsoft.com/office/drawing/2014/main" id="{DF510828-C126-4482-8FFD-9730FE430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213" y="220503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8</a:t>
            </a:r>
          </a:p>
        </p:txBody>
      </p:sp>
      <p:sp>
        <p:nvSpPr>
          <p:cNvPr id="53300" name="Rectangle 52">
            <a:extLst>
              <a:ext uri="{FF2B5EF4-FFF2-40B4-BE49-F238E27FC236}">
                <a16:creationId xmlns:a16="http://schemas.microsoft.com/office/drawing/2014/main" id="{30458F8F-D767-41B0-AF99-5270EA28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11604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7</a:t>
            </a:r>
          </a:p>
        </p:txBody>
      </p:sp>
      <p:sp>
        <p:nvSpPr>
          <p:cNvPr id="53301" name="Rectangle 53">
            <a:extLst>
              <a:ext uri="{FF2B5EF4-FFF2-40B4-BE49-F238E27FC236}">
                <a16:creationId xmlns:a16="http://schemas.microsoft.com/office/drawing/2014/main" id="{72F37F70-576C-4A87-9905-EB3D5BD7A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80010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6</a:t>
            </a:r>
          </a:p>
        </p:txBody>
      </p:sp>
      <p:sp>
        <p:nvSpPr>
          <p:cNvPr id="53302" name="Rectangle 54">
            <a:extLst>
              <a:ext uri="{FF2B5EF4-FFF2-40B4-BE49-F238E27FC236}">
                <a16:creationId xmlns:a16="http://schemas.microsoft.com/office/drawing/2014/main" id="{B8187601-C222-43B2-AE70-91C3C6AEB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166528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5</a:t>
            </a:r>
          </a:p>
        </p:txBody>
      </p:sp>
      <p:sp>
        <p:nvSpPr>
          <p:cNvPr id="53303" name="Rectangle 55">
            <a:extLst>
              <a:ext uri="{FF2B5EF4-FFF2-40B4-BE49-F238E27FC236}">
                <a16:creationId xmlns:a16="http://schemas.microsoft.com/office/drawing/2014/main" id="{5AA9F997-A1E9-47ED-AF55-6971CBF0E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267335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4</a:t>
            </a:r>
          </a:p>
        </p:txBody>
      </p:sp>
      <p:sp>
        <p:nvSpPr>
          <p:cNvPr id="53304" name="Rectangle 56">
            <a:extLst>
              <a:ext uri="{FF2B5EF4-FFF2-40B4-BE49-F238E27FC236}">
                <a16:creationId xmlns:a16="http://schemas.microsoft.com/office/drawing/2014/main" id="{AFAB4291-951B-4F27-AA30-54567EF69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216852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3</a:t>
            </a:r>
          </a:p>
        </p:txBody>
      </p:sp>
      <p:sp>
        <p:nvSpPr>
          <p:cNvPr id="53305" name="Rectangle 57">
            <a:extLst>
              <a:ext uri="{FF2B5EF4-FFF2-40B4-BE49-F238E27FC236}">
                <a16:creationId xmlns:a16="http://schemas.microsoft.com/office/drawing/2014/main" id="{07C43C72-C944-4372-AA8A-2C5F8C46C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119697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2</a:t>
            </a:r>
          </a:p>
        </p:txBody>
      </p:sp>
      <p:sp>
        <p:nvSpPr>
          <p:cNvPr id="53306" name="Rectangle 58">
            <a:extLst>
              <a:ext uri="{FF2B5EF4-FFF2-40B4-BE49-F238E27FC236}">
                <a16:creationId xmlns:a16="http://schemas.microsoft.com/office/drawing/2014/main" id="{8A1A1BAA-1548-4F5F-9B53-D2001FAC7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170021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1</a:t>
            </a:r>
          </a:p>
        </p:txBody>
      </p:sp>
      <p:sp>
        <p:nvSpPr>
          <p:cNvPr id="53307" name="Text Box 59">
            <a:extLst>
              <a:ext uri="{FF2B5EF4-FFF2-40B4-BE49-F238E27FC236}">
                <a16:creationId xmlns:a16="http://schemas.microsoft.com/office/drawing/2014/main" id="{E252DD76-BFEF-4B80-A87B-D0725D015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5373688"/>
            <a:ext cx="54364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Оценка времени работы алгоритма = время обхода = </a:t>
            </a:r>
            <a:r>
              <a:rPr lang="en-US" altLang="ru-RU" sz="1600"/>
              <a:t>(m+n)</a:t>
            </a:r>
            <a:r>
              <a:rPr lang="ru-RU" altLang="ru-RU" sz="1600"/>
              <a:t>.</a:t>
            </a:r>
          </a:p>
        </p:txBody>
      </p:sp>
      <p:sp>
        <p:nvSpPr>
          <p:cNvPr id="53308" name="Text Box 60">
            <a:extLst>
              <a:ext uri="{FF2B5EF4-FFF2-40B4-BE49-F238E27FC236}">
                <a16:creationId xmlns:a16="http://schemas.microsoft.com/office/drawing/2014/main" id="{21BCA85D-F900-4FED-BB8F-6E3667AEC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5734050"/>
            <a:ext cx="28923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Проверка ацикличности графа.</a:t>
            </a:r>
          </a:p>
        </p:txBody>
      </p:sp>
      <p:sp>
        <p:nvSpPr>
          <p:cNvPr id="53309" name="Text Box 61">
            <a:extLst>
              <a:ext uri="{FF2B5EF4-FFF2-40B4-BE49-F238E27FC236}">
                <a16:creationId xmlns:a16="http://schemas.microsoft.com/office/drawing/2014/main" id="{0554A6C0-189E-4F49-B06F-DEDB937F2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9" y="6094413"/>
            <a:ext cx="78387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400"/>
              <a:t>Граф содержит цикл, если при проходе по «обратной дуге» попадаем в еще непомеченную</a:t>
            </a:r>
            <a:br>
              <a:rPr lang="ru-RU" altLang="ru-RU" sz="1400"/>
            </a:br>
            <a:r>
              <a:rPr lang="ru-RU" altLang="ru-RU" sz="1400"/>
              <a:t>(«синюю») вершину.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9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5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5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5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5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4" grpId="0"/>
      <p:bldP spid="53295" grpId="0"/>
      <p:bldP spid="53296" grpId="0"/>
      <p:bldP spid="53297" grpId="0"/>
      <p:bldP spid="53298" grpId="0" animBg="1"/>
      <p:bldP spid="53299" grpId="0" animBg="1"/>
      <p:bldP spid="53300" grpId="0" animBg="1"/>
      <p:bldP spid="53301" grpId="0" animBg="1"/>
      <p:bldP spid="53302" grpId="0" animBg="1"/>
      <p:bldP spid="53303" grpId="0" animBg="1"/>
      <p:bldP spid="53304" grpId="0" animBg="1"/>
      <p:bldP spid="53305" grpId="0" animBg="1"/>
      <p:bldP spid="53306" grpId="0" animBg="1"/>
      <p:bldP spid="53307" grpId="0"/>
      <p:bldP spid="53308" grpId="0"/>
      <p:bldP spid="533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6F097-3033-44E3-9C26-23BF1E5645F3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Алгоритм Флойда - </a:t>
            </a:r>
            <a:r>
              <a:rPr lang="ru-RU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Уоршелла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36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>
            <a:spLocks noGrp="1"/>
          </p:cNvSpPr>
          <p:nvPr>
            <p:ph type="title"/>
          </p:nvPr>
        </p:nvSpPr>
        <p:spPr>
          <a:xfrm>
            <a:off x="4151313" y="0"/>
            <a:ext cx="6516687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3600"/>
            </a:pPr>
            <a:r>
              <a:rPr lang="ru-RU" sz="3600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- </a:t>
            </a:r>
            <a:r>
              <a:rPr lang="ru-RU" sz="3600" b="1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Уоршелла</a:t>
            </a:r>
            <a:endParaRPr dirty="0"/>
          </a:p>
        </p:txBody>
      </p:sp>
      <p:sp>
        <p:nvSpPr>
          <p:cNvPr id="273" name="Google Shape;273;p36"/>
          <p:cNvSpPr txBox="1">
            <a:spLocks noGrp="1"/>
          </p:cNvSpPr>
          <p:nvPr>
            <p:ph type="body" idx="1"/>
          </p:nvPr>
        </p:nvSpPr>
        <p:spPr>
          <a:xfrm>
            <a:off x="1774825" y="2924176"/>
            <a:ext cx="8642350" cy="36734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360362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Разработан в 1962 году Робертом Флойдом и Стивеном</a:t>
            </a:r>
            <a:r>
              <a:rPr lang="ru-RU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Уоршеллом</a:t>
            </a:r>
            <a:r>
              <a:rPr lang="ru-RU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indent="360362" algn="just">
              <a:lnSpc>
                <a:spcPct val="100000"/>
              </a:lnSpc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отличии от алгоритма Дейкстры, который позволяет построить ориентированное </a:t>
            </a:r>
            <a:r>
              <a:rPr lang="ru-RU" sz="220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дерево кратчайших путей от некоторой вершины</a:t>
            </a: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метод Флойда позволяет найти длины </a:t>
            </a:r>
            <a:r>
              <a:rPr lang="ru-RU" sz="220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всех кратчайших путей в графе</a:t>
            </a: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indent="360362" algn="just">
              <a:lnSpc>
                <a:spcPct val="100000"/>
              </a:lnSpc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Конечно эта задача может быть решена и многократным применением алгоритма Дейкстры (каждый раз последовательно выбираем вершину от первой до N-ной, пока не получим кратчайшие пути от всех вершин графа), однако реализация подобной процедуры требует значительных вычислительных затрат.</a:t>
            </a:r>
            <a:endParaRPr/>
          </a:p>
          <a:p>
            <a:pPr marL="342900" indent="-203200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36" descr="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"/>
            <a:ext cx="1979612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6"/>
          <p:cNvSpPr txBox="1"/>
          <p:nvPr/>
        </p:nvSpPr>
        <p:spPr>
          <a:xfrm>
            <a:off x="3575050" y="2060575"/>
            <a:ext cx="2286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ru-RU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Роберт Флойд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>
            <a:spLocks noGrp="1"/>
          </p:cNvSpPr>
          <p:nvPr>
            <p:ph type="title"/>
          </p:nvPr>
        </p:nvSpPr>
        <p:spPr>
          <a:xfrm>
            <a:off x="1992312" y="0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800080"/>
              </a:buClr>
              <a:buSzPts val="4400"/>
            </a:pPr>
            <a:r>
              <a:rPr lang="ru-RU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Обозначения</a:t>
            </a:r>
            <a:endParaRPr/>
          </a:p>
        </p:txBody>
      </p:sp>
      <p:sp>
        <p:nvSpPr>
          <p:cNvPr id="281" name="Google Shape;281;p37"/>
          <p:cNvSpPr txBox="1">
            <a:spLocks noGrp="1"/>
          </p:cNvSpPr>
          <p:nvPr>
            <p:ph type="body" idx="1"/>
          </p:nvPr>
        </p:nvSpPr>
        <p:spPr>
          <a:xfrm>
            <a:off x="1703387" y="692150"/>
            <a:ext cx="8964612" cy="59499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36036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Перенумеруем вершины графа целыми числами от 1 до N. </a:t>
            </a:r>
            <a:endParaRPr/>
          </a:p>
          <a:p>
            <a:pPr marL="0" indent="360362">
              <a:lnSpc>
                <a:spcPct val="100000"/>
              </a:lnSpc>
              <a:spcBef>
                <a:spcPts val="240"/>
              </a:spcBef>
              <a:buClr>
                <a:schemeClr val="dk1"/>
              </a:buClr>
              <a:buSzPts val="12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36036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Обозначим через 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400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sz="2400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длину кратчайшего пути из вершины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вершину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который в качестве промежуточных может содержать только первые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вершин графа (промежуточной вершиной пути является любая принадлежащая ему вершина, не совпадающая с его начальной или конечной вершинами).</a:t>
            </a:r>
            <a:endParaRPr/>
          </a:p>
          <a:p>
            <a:pPr marL="0" indent="360362">
              <a:lnSpc>
                <a:spcPct val="100000"/>
              </a:lnSpc>
              <a:spcBef>
                <a:spcPts val="240"/>
              </a:spcBef>
              <a:buClr>
                <a:schemeClr val="dk1"/>
              </a:buClr>
              <a:buSzPts val="12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36036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Если между вершинами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j не существует ни одного пути указанного типа, то условно будем считать, что 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400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sz="2400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=∞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0" indent="360362">
              <a:lnSpc>
                <a:spcPct val="100000"/>
              </a:lnSpc>
              <a:spcBef>
                <a:spcPts val="240"/>
              </a:spcBef>
              <a:buClr>
                <a:schemeClr val="dk1"/>
              </a:buClr>
              <a:buSzPts val="12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36036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Величина </a:t>
            </a:r>
            <a:r>
              <a:rPr lang="ru-RU" sz="2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400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sz="2400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представляет длину кратчайшего пути из вершины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вершину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j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не имеющего промежуточных вершин, т. е. длину кратчайшей дуги, соединяющей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ru-RU" sz="2400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(если такие дуги присутствуют в графе).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>
            <a:spLocks noGrp="1"/>
          </p:cNvSpPr>
          <p:nvPr>
            <p:ph type="title"/>
          </p:nvPr>
        </p:nvSpPr>
        <p:spPr>
          <a:xfrm>
            <a:off x="1992312" y="58737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800080"/>
              </a:buClr>
              <a:buSzPts val="4400"/>
            </a:pPr>
            <a:r>
              <a:rPr lang="ru-RU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Обозначения</a:t>
            </a:r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body" idx="1"/>
          </p:nvPr>
        </p:nvSpPr>
        <p:spPr>
          <a:xfrm>
            <a:off x="1703387" y="1125537"/>
            <a:ext cx="8964612" cy="57324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36036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Обозначим через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 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матрицу размера NxN, элемент (i,j) которой совпадает с d</a:t>
            </a:r>
            <a:r>
              <a:rPr lang="ru-RU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0" indent="36036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 исходном графе нам известна длина каждой дуги, то мы можем сформировать матрицу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которая в алгоритме Флойда выступает в качестве исходной. </a:t>
            </a:r>
            <a:endParaRPr/>
          </a:p>
          <a:p>
            <a:pPr marL="0" indent="36036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Вначале из этой матрицы вычисляется матрица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Затем по матрице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вычисляется матрица 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и т. д. по формуле: </a:t>
            </a:r>
            <a:endParaRPr/>
          </a:p>
          <a:p>
            <a:pPr marL="0" indent="360362" algn="ctr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800"/>
              <a:buNone/>
            </a:pP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ru-RU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min{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i,m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 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m,j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36036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 повторяется до тех пор, пока по матрице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не будет вычислена матрица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0" indent="360362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3970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>
            <a:spLocks noGrp="1"/>
          </p:cNvSpPr>
          <p:nvPr>
            <p:ph type="title"/>
          </p:nvPr>
        </p:nvSpPr>
        <p:spPr>
          <a:xfrm>
            <a:off x="1981200" y="188912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Суть алгоритма Флойда</a:t>
            </a:r>
            <a:endParaRPr/>
          </a:p>
        </p:txBody>
      </p:sp>
      <p:sp>
        <p:nvSpPr>
          <p:cNvPr id="293" name="Google Shape;293;p39"/>
          <p:cNvSpPr txBox="1">
            <a:spLocks noGrp="1"/>
          </p:cNvSpPr>
          <p:nvPr>
            <p:ph type="body" idx="1"/>
          </p:nvPr>
        </p:nvSpPr>
        <p:spPr>
          <a:xfrm>
            <a:off x="1774826" y="1052513"/>
            <a:ext cx="8569325" cy="1296987"/>
          </a:xfrm>
          <a:prstGeom prst="rect">
            <a:avLst/>
          </a:prstGeom>
          <a:noFill/>
          <a:ln w="9525" cap="flat" cmpd="sng">
            <a:solidFill>
              <a:srgbClr val="0000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заключается в проверке того, не окажется ли путь из вершины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вершину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короче, если будет проходить через некоторую промежуточную вершину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342900" indent="-165100"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1774826" y="2565401"/>
            <a:ext cx="4897437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Пусть есть три вершины </a:t>
            </a:r>
            <a:r>
              <a:rPr lang="ru-RU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i,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j,m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и расстояния между ними: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sz="2800" i="1" baseline="-25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sz="2800" i="1" baseline="-25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sz="2800" i="1" baseline="-25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выполняется неравенство </a:t>
            </a:r>
            <a:r>
              <a:rPr lang="ru-RU" sz="2800" b="1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800" b="1" i="1" baseline="-25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</a:t>
            </a:r>
            <a:r>
              <a:rPr lang="ru-RU" sz="28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ru-RU" sz="2800" b="1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800" b="1" i="1" baseline="-25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mj</a:t>
            </a:r>
            <a:r>
              <a:rPr lang="ru-RU" sz="28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lang="ru-RU" sz="2800" b="1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800" b="1" i="1" baseline="-25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то целесообразно заменить путь </a:t>
            </a:r>
            <a:r>
              <a:rPr lang="ru-RU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j 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путём </a:t>
            </a:r>
            <a:r>
              <a:rPr lang="ru-RU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m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m</a:t>
            </a:r>
            <a:r>
              <a:rPr lang="ru-RU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</a:t>
            </a:r>
            <a:endParaRPr dirty="0"/>
          </a:p>
        </p:txBody>
      </p:sp>
      <p:pic>
        <p:nvPicPr>
          <p:cNvPr id="295" name="Google Shape;29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9962" y="2636837"/>
            <a:ext cx="3128962" cy="2957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 txBox="1"/>
          <p:nvPr/>
        </p:nvSpPr>
        <p:spPr>
          <a:xfrm>
            <a:off x="6816726" y="5949951"/>
            <a:ext cx="38512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«Треугольный оператор»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>
            <a:spLocks noGrp="1"/>
          </p:cNvSpPr>
          <p:nvPr>
            <p:ph type="body" idx="1"/>
          </p:nvPr>
        </p:nvSpPr>
        <p:spPr>
          <a:xfrm>
            <a:off x="1631951" y="981075"/>
            <a:ext cx="8893175" cy="23034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2800"/>
              <a:buNone/>
            </a:pP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Этап 1</a:t>
            </a: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Перенумеровать вершины графа от 1 до N, определить матрицу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каждый элемент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b="1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которой есть длина кратчайшей дуги между вершинами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Если такой дуги нет, положить значение элемента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b="1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Значения диагональных элементов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i,i </a:t>
            </a: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= 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900" indent="-165100"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40" descr="Dijkstra graph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387" y="3616326"/>
            <a:ext cx="3706812" cy="3241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3" name="Google Shape;303;p40"/>
          <p:cNvGraphicFramePr/>
          <p:nvPr/>
        </p:nvGraphicFramePr>
        <p:xfrm>
          <a:off x="5808662" y="3716337"/>
          <a:ext cx="4619600" cy="28372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400"/>
                        <a:buFont typeface="Calibri"/>
                        <a:buNone/>
                      </a:pPr>
                      <a:r>
                        <a:rPr lang="ru-RU" sz="24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4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4" name="Google Shape;304;p40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1992312" y="1052512"/>
            <a:ext cx="8229600" cy="14398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Матрицу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в которой будем запоминать последовательность вершин в кратчайшем пути, заполним так: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j</a:t>
            </a:r>
            <a:endParaRPr/>
          </a:p>
        </p:txBody>
      </p:sp>
      <p:graphicFrame>
        <p:nvGraphicFramePr>
          <p:cNvPr id="310" name="Google Shape;310;p41"/>
          <p:cNvGraphicFramePr/>
          <p:nvPr/>
        </p:nvGraphicFramePr>
        <p:xfrm>
          <a:off x="6311900" y="2781301"/>
          <a:ext cx="4127400" cy="2952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1" name="Google Shape;311;p41"/>
          <p:cNvGraphicFramePr/>
          <p:nvPr/>
        </p:nvGraphicFramePr>
        <p:xfrm>
          <a:off x="1774825" y="2781301"/>
          <a:ext cx="4127400" cy="2952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2" name="Google Shape;312;p41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>
            <a:spLocks noGrp="1"/>
          </p:cNvSpPr>
          <p:nvPr>
            <p:ph type="title" idx="4294967295"/>
          </p:nvPr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body" idx="1"/>
          </p:nvPr>
        </p:nvSpPr>
        <p:spPr>
          <a:xfrm>
            <a:off x="1524000" y="1268413"/>
            <a:ext cx="9144000" cy="55895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Задаём строку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столбец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как </a:t>
            </a:r>
            <a:r>
              <a:rPr lang="ru-RU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ведущую строку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</a:t>
            </a:r>
            <a:r>
              <a:rPr lang="ru-RU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ведущий столбец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всех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элементов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матрицы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рассматриваем возможность применения </a:t>
            </a:r>
            <a:r>
              <a:rPr lang="ru-RU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треугольного оператора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Если выполняется неравенство:</a:t>
            </a:r>
            <a:endParaRPr/>
          </a:p>
          <a:p>
            <a:pPr marL="0" indent="0" algn="ctr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800"/>
              <a:buNone/>
            </a:pP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     </a:t>
            </a:r>
            <a:r>
              <a:rPr lang="ru-RU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(i≠j, j≠m, i≠m),</a:t>
            </a:r>
            <a:endParaRPr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 делаем следующее: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а) в матрице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заменяем элемент 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матрицы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суммой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в матрице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300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меняем элемент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-250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матрицы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300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на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полагаем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m=m+1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повторяем основной этап, пока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&lt; N</a:t>
            </a:r>
            <a:endParaRPr/>
          </a:p>
          <a:p>
            <a:pPr marL="342900" indent="-165100"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1524000" y="765175"/>
            <a:ext cx="86979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CC"/>
              </a:buClr>
              <a:buSzPts val="4000"/>
            </a:pPr>
            <a:r>
              <a:rPr lang="ru-RU" sz="40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Основной этап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43"/>
          <p:cNvGraphicFramePr/>
          <p:nvPr/>
        </p:nvGraphicFramePr>
        <p:xfrm>
          <a:off x="6383337" y="692150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5" name="Google Shape;325;p43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6" name="Google Shape;326;p43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" name="Google Shape;327;p43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8" name="Google Shape;328;p43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p43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31" name="Google Shape;331;p43"/>
          <p:cNvCxnSpPr/>
          <p:nvPr/>
        </p:nvCxnSpPr>
        <p:spPr>
          <a:xfrm rot="10800000">
            <a:off x="5664200" y="1557338"/>
            <a:ext cx="0" cy="28733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32" name="Google Shape;332;p43"/>
          <p:cNvCxnSpPr/>
          <p:nvPr/>
        </p:nvCxnSpPr>
        <p:spPr>
          <a:xfrm rot="10800000">
            <a:off x="3216276" y="1844675"/>
            <a:ext cx="2447925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33" name="Google Shape;333;p43"/>
          <p:cNvCxnSpPr/>
          <p:nvPr/>
        </p:nvCxnSpPr>
        <p:spPr>
          <a:xfrm rot="10800000">
            <a:off x="3143251" y="3429000"/>
            <a:ext cx="504825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34" name="Google Shape;334;p43"/>
          <p:cNvCxnSpPr/>
          <p:nvPr/>
        </p:nvCxnSpPr>
        <p:spPr>
          <a:xfrm rot="10800000">
            <a:off x="3648075" y="1557337"/>
            <a:ext cx="0" cy="1871662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pic>
        <p:nvPicPr>
          <p:cNvPr id="13" name="Google Shape;302;p40" descr="Dijkstra graph0.PNG">
            <a:extLst>
              <a:ext uri="{FF2B5EF4-FFF2-40B4-BE49-F238E27FC236}">
                <a16:creationId xmlns:a16="http://schemas.microsoft.com/office/drawing/2014/main" id="{099943D4-0F62-4FE2-A514-FADFC48DCA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9" name="Google Shape;339;p44"/>
          <p:cNvGraphicFramePr/>
          <p:nvPr/>
        </p:nvGraphicFramePr>
        <p:xfrm>
          <a:off x="6383337" y="692150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0" name="Google Shape;340;p44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1" name="Google Shape;341;p44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2" name="Google Shape;342;p44"/>
          <p:cNvGraphicFramePr/>
          <p:nvPr>
            <p:extLst>
              <p:ext uri="{D42A27DB-BD31-4B8C-83A1-F6EECF244321}">
                <p14:modId xmlns:p14="http://schemas.microsoft.com/office/powerpoint/2010/main" val="2516692874"/>
              </p:ext>
            </p:extLst>
          </p:nvPr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i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3" name="Google Shape;343;p44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" name="Google Shape;345;p44"/>
          <p:cNvGraphicFramePr/>
          <p:nvPr>
            <p:extLst>
              <p:ext uri="{D42A27DB-BD31-4B8C-83A1-F6EECF244321}">
                <p14:modId xmlns:p14="http://schemas.microsoft.com/office/powerpoint/2010/main" val="1427181532"/>
              </p:ext>
            </p:extLst>
          </p:nvPr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i="0" u="none" kern="12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2000" b="1" i="0" u="none" kern="12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46" name="Google Shape;346;p44"/>
          <p:cNvCxnSpPr/>
          <p:nvPr/>
        </p:nvCxnSpPr>
        <p:spPr>
          <a:xfrm>
            <a:off x="4656137" y="1268412"/>
            <a:ext cx="0" cy="360362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47" name="Google Shape;347;p44"/>
          <p:cNvCxnSpPr/>
          <p:nvPr/>
        </p:nvCxnSpPr>
        <p:spPr>
          <a:xfrm rot="10800000">
            <a:off x="3719513" y="1196975"/>
            <a:ext cx="936625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48" name="Google Shape;348;p44"/>
          <p:cNvCxnSpPr/>
          <p:nvPr/>
        </p:nvCxnSpPr>
        <p:spPr>
          <a:xfrm>
            <a:off x="2855913" y="2636837"/>
            <a:ext cx="503237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49" name="Google Shape;349;p44"/>
          <p:cNvCxnSpPr/>
          <p:nvPr/>
        </p:nvCxnSpPr>
        <p:spPr>
          <a:xfrm rot="10800000">
            <a:off x="2855912" y="1844675"/>
            <a:ext cx="0" cy="792162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50" name="Google Shape;350;p44"/>
          <p:cNvCxnSpPr/>
          <p:nvPr/>
        </p:nvCxnSpPr>
        <p:spPr>
          <a:xfrm rot="10800000">
            <a:off x="4656137" y="1844676"/>
            <a:ext cx="0" cy="1584325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51" name="Google Shape;351;p44"/>
          <p:cNvCxnSpPr/>
          <p:nvPr/>
        </p:nvCxnSpPr>
        <p:spPr>
          <a:xfrm rot="10800000">
            <a:off x="3648075" y="3500437"/>
            <a:ext cx="1008062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pic>
        <p:nvPicPr>
          <p:cNvPr id="15" name="Google Shape;302;p40" descr="Dijkstra graph0.PNG">
            <a:extLst>
              <a:ext uri="{FF2B5EF4-FFF2-40B4-BE49-F238E27FC236}">
                <a16:creationId xmlns:a16="http://schemas.microsoft.com/office/drawing/2014/main" id="{C5FCD536-EE59-4454-A939-4D58EAF61E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45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8" name="Google Shape;358;p45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" name="Google Shape;360;p45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1" name="Google Shape;361;p45"/>
          <p:cNvGraphicFramePr/>
          <p:nvPr/>
        </p:nvGraphicFramePr>
        <p:xfrm>
          <a:off x="1703387" y="692150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2" name="Google Shape;362;p45"/>
          <p:cNvGraphicFramePr/>
          <p:nvPr/>
        </p:nvGraphicFramePr>
        <p:xfrm>
          <a:off x="6383337" y="692150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Google Shape;302;p40" descr="Dijkstra graph0.PNG">
            <a:extLst>
              <a:ext uri="{FF2B5EF4-FFF2-40B4-BE49-F238E27FC236}">
                <a16:creationId xmlns:a16="http://schemas.microsoft.com/office/drawing/2014/main" id="{450B37E2-030F-4557-9601-E3A5643DB3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" name="Google Shape;368;p46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9" name="Google Shape;369;p46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46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2" name="Google Shape;372;p46"/>
          <p:cNvGraphicFramePr/>
          <p:nvPr/>
        </p:nvGraphicFramePr>
        <p:xfrm>
          <a:off x="1847850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3" name="Google Shape;373;p46"/>
          <p:cNvGraphicFramePr/>
          <p:nvPr/>
        </p:nvGraphicFramePr>
        <p:xfrm>
          <a:off x="6456362" y="76517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Google Shape;302;p40" descr="Dijkstra graph0.PNG">
            <a:extLst>
              <a:ext uri="{FF2B5EF4-FFF2-40B4-BE49-F238E27FC236}">
                <a16:creationId xmlns:a16="http://schemas.microsoft.com/office/drawing/2014/main" id="{29EABB36-B580-419B-A093-FD10530CA8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9" name="Google Shape;379;p47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0" name="Google Shape;380;p47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7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47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3" name="Google Shape;383;p47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4" name="Google Shape;384;p47"/>
          <p:cNvGraphicFramePr/>
          <p:nvPr/>
        </p:nvGraphicFramePr>
        <p:xfrm>
          <a:off x="6361112" y="76517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Google Shape;302;p40" descr="Dijkstra graph0.PNG">
            <a:extLst>
              <a:ext uri="{FF2B5EF4-FFF2-40B4-BE49-F238E27FC236}">
                <a16:creationId xmlns:a16="http://schemas.microsoft.com/office/drawing/2014/main" id="{4075DFFE-5D4B-4E79-8E70-9B832A8D1C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p48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1" name="Google Shape;391;p48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8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48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4" name="Google Shape;394;p48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5" name="Google Shape;395;p48"/>
          <p:cNvGraphicFramePr/>
          <p:nvPr/>
        </p:nvGraphicFramePr>
        <p:xfrm>
          <a:off x="6361112" y="76517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6" name="Google Shape;396;p48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Google Shape;302;p40" descr="Dijkstra graph0.PNG">
            <a:extLst>
              <a:ext uri="{FF2B5EF4-FFF2-40B4-BE49-F238E27FC236}">
                <a16:creationId xmlns:a16="http://schemas.microsoft.com/office/drawing/2014/main" id="{5A539710-A19E-4B4A-9811-2FFA277AA7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1524000" y="692150"/>
            <a:ext cx="9144000" cy="63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CC"/>
              </a:buClr>
              <a:buSzPts val="4000"/>
            </a:pPr>
            <a:r>
              <a:rPr lang="ru-RU" sz="4000" b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Последний этап.</a:t>
            </a:r>
            <a:endParaRPr dirty="0"/>
          </a:p>
          <a:p>
            <a:pPr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После реализации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этапов алгоритма определение по матрицам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кратчайшего пути между узлами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выполняется по следующим правилам:</a:t>
            </a:r>
            <a:endParaRPr dirty="0"/>
          </a:p>
          <a:p>
            <a:pPr>
              <a:buClr>
                <a:schemeClr val="dk1"/>
              </a:buClr>
              <a:buSzPts val="2800"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Кратчайшее расстояние между узлами 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равно элементу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матрице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2800" b="1" i="1" baseline="30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indent="-177800"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Промежуточные узлы пути от узла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 узлу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определяем по матрице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30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Пусть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ru-RU" sz="2800" b="1" i="1" baseline="-25000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= 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тогда имеем путь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Если далее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 считаем, что весь путь определён. В противном случае повторяем процедуру для путей от узла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 узлу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от узла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k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 узлу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>
            <a:spLocks noGrp="1"/>
          </p:cNvSpPr>
          <p:nvPr>
            <p:ph type="body" idx="1"/>
          </p:nvPr>
        </p:nvSpPr>
        <p:spPr>
          <a:xfrm>
            <a:off x="1524000" y="4149726"/>
            <a:ext cx="4572000" cy="27082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3200"/>
              <a:buNone/>
            </a:pPr>
            <a:r>
              <a:rPr lang="ru-RU" sz="3200" b="1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3200" b="1" i="1" baseline="-250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21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Путь: 2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CC"/>
              </a:buClr>
              <a:buSzPts val="3200"/>
              <a:buNone/>
            </a:pPr>
            <a:r>
              <a:rPr lang="ru-RU" sz="3200" b="1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3200" b="1" i="1" baseline="-250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r>
              <a:rPr lang="ru-RU" sz="32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Путь: 5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3970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0"/>
          <p:cNvSpPr txBox="1">
            <a:spLocks noGrp="1"/>
          </p:cNvSpPr>
          <p:nvPr>
            <p:ph type="title" idx="4294967295"/>
          </p:nvPr>
        </p:nvSpPr>
        <p:spPr>
          <a:xfrm>
            <a:off x="1524000" y="0"/>
            <a:ext cx="9144000" cy="620688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50" descr="Dijkstra graph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765176"/>
            <a:ext cx="3706812" cy="3241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0" name="Google Shape;410;p50"/>
          <p:cNvGraphicFramePr/>
          <p:nvPr/>
        </p:nvGraphicFramePr>
        <p:xfrm>
          <a:off x="6456362" y="836612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11" name="Google Shape;411;p50"/>
          <p:cNvGraphicFramePr/>
          <p:nvPr/>
        </p:nvGraphicFramePr>
        <p:xfrm>
          <a:off x="6383337" y="393382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DBF5BC-B6A8-4CDD-A373-F2842084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82" y="896030"/>
            <a:ext cx="5238750" cy="5229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B01CD9-B1AF-4FF5-904D-675832E1108D}"/>
              </a:ext>
            </a:extLst>
          </p:cNvPr>
          <p:cNvSpPr txBox="1"/>
          <p:nvPr/>
        </p:nvSpPr>
        <p:spPr>
          <a:xfrm>
            <a:off x="6866165" y="1624693"/>
            <a:ext cx="1900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Объем памяти - ?</a:t>
            </a:r>
          </a:p>
          <a:p>
            <a:endParaRPr lang="ru-RU" dirty="0"/>
          </a:p>
          <a:p>
            <a:r>
              <a:rPr lang="ru-RU" dirty="0"/>
              <a:t>О-большое -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EFDBE-AE2E-489D-96F8-FFE8F71ED26B}"/>
              </a:ext>
            </a:extLst>
          </p:cNvPr>
          <p:cNvSpPr txBox="1"/>
          <p:nvPr/>
        </p:nvSpPr>
        <p:spPr>
          <a:xfrm>
            <a:off x="9291502" y="1820636"/>
            <a:ext cx="114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 * V = V</a:t>
            </a:r>
            <a:r>
              <a:rPr lang="en-US" baseline="30000" dirty="0"/>
              <a:t>2</a:t>
            </a:r>
            <a:endParaRPr lang="ru-RU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26CD1-2515-4E9D-841D-E7FA604A6901}"/>
              </a:ext>
            </a:extLst>
          </p:cNvPr>
          <p:cNvSpPr txBox="1"/>
          <p:nvPr/>
        </p:nvSpPr>
        <p:spPr>
          <a:xfrm>
            <a:off x="9291502" y="2548023"/>
            <a:ext cx="114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О(</a:t>
            </a:r>
            <a:r>
              <a:rPr lang="en-US" dirty="0"/>
              <a:t>V</a:t>
            </a:r>
            <a:r>
              <a:rPr lang="ru-RU" dirty="0"/>
              <a:t>) </a:t>
            </a:r>
            <a:r>
              <a:rPr lang="en-US" dirty="0"/>
              <a:t>= V</a:t>
            </a:r>
            <a:r>
              <a:rPr lang="ru-RU" baseline="300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6E22A-3C46-440C-80F8-7AEE868FA34B}"/>
              </a:ext>
            </a:extLst>
          </p:cNvPr>
          <p:cNvSpPr txBox="1"/>
          <p:nvPr/>
        </p:nvSpPr>
        <p:spPr>
          <a:xfrm>
            <a:off x="9291502" y="3294315"/>
            <a:ext cx="227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 </a:t>
            </a:r>
          </a:p>
          <a:p>
            <a:r>
              <a:rPr lang="ru-RU" dirty="0"/>
              <a:t>О(</a:t>
            </a:r>
            <a:r>
              <a:rPr lang="en-US" dirty="0"/>
              <a:t>V</a:t>
            </a:r>
            <a:r>
              <a:rPr lang="ru-RU" dirty="0"/>
              <a:t>) </a:t>
            </a:r>
            <a:r>
              <a:rPr lang="en-US" dirty="0"/>
              <a:t>= V</a:t>
            </a:r>
            <a:r>
              <a:rPr lang="ru-RU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194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D3517-9648-460E-B393-5D623E90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5277"/>
            <a:ext cx="7920000" cy="402744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0F21C6-BFA2-4AF5-A7CD-DAC996E62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101" y="4596493"/>
            <a:ext cx="401383" cy="409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BA4063-B383-47F1-BC33-041EFDFE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84" y="5006067"/>
            <a:ext cx="401383" cy="4095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90E9D1-87E1-4332-895D-C53A6D46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718" y="5006067"/>
            <a:ext cx="401383" cy="4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36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78848D-1BE5-4C18-90DA-3CC977193567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Волновой алгоритм (Алгоритм Ли)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95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147545-477D-4348-9E50-EE6ACCB34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455" y="3429000"/>
            <a:ext cx="4902901" cy="216149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142F8E-981D-4FBA-A5F1-F7EFAFF8A903}"/>
              </a:ext>
            </a:extLst>
          </p:cNvPr>
          <p:cNvSpPr/>
          <p:nvPr/>
        </p:nvSpPr>
        <p:spPr>
          <a:xfrm>
            <a:off x="770163" y="495610"/>
            <a:ext cx="106924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Рассматривается алгоритм построения ортогонального пути. </a:t>
            </a:r>
          </a:p>
          <a:p>
            <a:endParaRPr lang="ru-RU" dirty="0"/>
          </a:p>
          <a:p>
            <a:r>
              <a:rPr lang="ru-RU" dirty="0"/>
              <a:t>Алгоритм состоит из двух частей. </a:t>
            </a:r>
          </a:p>
          <a:p>
            <a:pPr marL="342900" indent="-342900">
              <a:buAutoNum type="arabicParenR"/>
            </a:pPr>
            <a:r>
              <a:rPr lang="ru-RU" dirty="0"/>
              <a:t>В первой от источника к приемнику распространяется волна. </a:t>
            </a:r>
          </a:p>
          <a:p>
            <a:pPr marL="342900" indent="-342900">
              <a:buAutoNum type="arabicParenR"/>
            </a:pPr>
            <a:r>
              <a:rPr lang="ru-RU" dirty="0"/>
              <a:t>Во второй выполняется обратный ход, в процессе которого из ячеек волны формируется путь.</a:t>
            </a:r>
          </a:p>
          <a:p>
            <a:endParaRPr lang="ru-RU" dirty="0"/>
          </a:p>
          <a:p>
            <a:r>
              <a:rPr lang="ru-RU" dirty="0"/>
              <a:t>Волна, идущая от источника к приемнику, на каждом шаге первой части алгоритма пополняется свободными ячейками, которые, во-первых, еще не принадлежат волне, и, во-вторых, являются 4-соседями ячеек, попавших в волну на предыдущем шаге.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BCD31B-B2DD-4327-9775-6A9990F4C356}"/>
              </a:ext>
            </a:extLst>
          </p:cNvPr>
          <p:cNvSpPr/>
          <p:nvPr/>
        </p:nvSpPr>
        <p:spPr>
          <a:xfrm>
            <a:off x="3225213" y="5753895"/>
            <a:ext cx="2760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окрестность фон Неймана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8D1B42-CEEC-42C7-A36B-B8FCBF21F512}"/>
              </a:ext>
            </a:extLst>
          </p:cNvPr>
          <p:cNvSpPr/>
          <p:nvPr/>
        </p:nvSpPr>
        <p:spPr>
          <a:xfrm>
            <a:off x="6377861" y="5753895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окрестность Мура</a:t>
            </a:r>
          </a:p>
        </p:txBody>
      </p:sp>
    </p:spTree>
    <p:extLst>
      <p:ext uri="{BB962C8B-B14F-4D97-AF65-F5344CB8AC3E}">
        <p14:creationId xmlns:p14="http://schemas.microsoft.com/office/powerpoint/2010/main" val="293606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D3517-9648-460E-B393-5D623E90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5277"/>
            <a:ext cx="7920000" cy="402744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0F21C6-BFA2-4AF5-A7CD-DAC996E62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101" y="4596493"/>
            <a:ext cx="401383" cy="409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BA4063-B383-47F1-BC33-041EFDFE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84" y="5006067"/>
            <a:ext cx="401383" cy="4095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90E9D1-87E1-4332-895D-C53A6D46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718" y="5006067"/>
            <a:ext cx="401383" cy="4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61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6E98F-B48E-4230-B302-4C153BAFF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1" y="305068"/>
            <a:ext cx="12094029" cy="624786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Инициализация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Пометить стартовую ячейку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:= 0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b="1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Распространение волны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ЦИКЛ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ДЛЯ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каждой ячейки </a:t>
            </a:r>
            <a:r>
              <a:rPr kumimoji="0" lang="en-US" altLang="ru-RU" sz="16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помеченной числом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пометить все соседние свободные непомеченные ячейки числом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КЦ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:=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(финишная ячейка не помечена)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(есть возможность распространения волны)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b="1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Восстановление пути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ЕСЛИ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финишная ячейка помечена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ТО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перейти в финишную ячейку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ЦИКЛ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выбрать среди соседних ячейку, помеченную числом на 1 меньше числа в текущей ячейке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перейти в выбранную ячейку и добавить её к пути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текущая ячейка — не стартовая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ВОЗВРАТ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путь найден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ИНАЧЕ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ВОЗВРАТ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путь не найден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914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D3517-9648-460E-B393-5D623E90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5277"/>
            <a:ext cx="7920000" cy="402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84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ACB64A7-34DD-4F1C-A96C-92F7EBFD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90" y="1430983"/>
            <a:ext cx="7915220" cy="39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5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CCB0C5-8637-4C2D-8284-73D01E42E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20164"/>
            <a:ext cx="7920000" cy="401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132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80DE06-A73F-42B4-8FA2-5BF710A51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0553"/>
            <a:ext cx="7920000" cy="403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48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C4E268-A49E-4239-9FEF-9D1761196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386372"/>
            <a:ext cx="7920000" cy="4085255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9E1B1F-F197-425E-A2E5-204D6B77028A}"/>
              </a:ext>
            </a:extLst>
          </p:cNvPr>
          <p:cNvSpPr/>
          <p:nvPr/>
        </p:nvSpPr>
        <p:spPr>
          <a:xfrm>
            <a:off x="639535" y="396171"/>
            <a:ext cx="103006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обратном ходе в путь включается по одной ячейке каждого шага распространения волны. При выборе из двух ячеек приоритет имеет ячейка, обеспечивающая горизонтальное продвижение, что приводит к пути, показанному на рисунке</a:t>
            </a:r>
          </a:p>
        </p:txBody>
      </p:sp>
    </p:spTree>
    <p:extLst>
      <p:ext uri="{BB962C8B-B14F-4D97-AF65-F5344CB8AC3E}">
        <p14:creationId xmlns:p14="http://schemas.microsoft.com/office/powerpoint/2010/main" val="40382384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2819</Words>
  <Application>Microsoft Office PowerPoint</Application>
  <PresentationFormat>Широкоэкранный</PresentationFormat>
  <Paragraphs>1796</Paragraphs>
  <Slides>32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Times New Roman</vt:lpstr>
      <vt:lpstr>Тема Office</vt:lpstr>
      <vt:lpstr>Графы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Флойда - Уоршелла</vt:lpstr>
      <vt:lpstr>Обозначения</vt:lpstr>
      <vt:lpstr>Обозначения</vt:lpstr>
      <vt:lpstr>Суть алгоритма Флойда</vt:lpstr>
      <vt:lpstr>Презентация PowerPoint</vt:lpstr>
      <vt:lpstr>Презентация PowerPoint</vt:lpstr>
      <vt:lpstr>Алгоритм Флойда на примере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Флойда на примере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Дмитрий Васильевич Шиман</cp:lastModifiedBy>
  <cp:revision>44</cp:revision>
  <dcterms:created xsi:type="dcterms:W3CDTF">2021-07-10T19:33:53Z</dcterms:created>
  <dcterms:modified xsi:type="dcterms:W3CDTF">2025-09-18T15:21:13Z</dcterms:modified>
</cp:coreProperties>
</file>